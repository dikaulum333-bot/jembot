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80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731520" y="1051560"/>
            <a:ext cx="7772400" cy="1645920"/>
          </a:xfrm>
          <a:prstGeom prst="rect">
            <a:avLst/>
          </a:prstGeom>
          <a:noFill/>
        </p:spPr>
        <p:txBody>
          <a:bodyPr wrap="square">
            <a:spAutoFit/>
          </a:bodyPr>
          <a:lstStyle/>
          <a:p>
            <a:pPr>
              <a:defRPr sz="3400" b="1">
                <a:solidFill>
                  <a:srgbClr val="F8F7FA"/>
                </a:solidFill>
                <a:latin typeface="Aptos"/>
              </a:defRPr>
            </a:pPr>
            <a:r>
              <a:rPr dirty="0"/>
              <a:t>SEJARAH</a:t>
            </a:r>
            <a:br>
              <a:rPr dirty="0"/>
            </a:br>
            <a:r>
              <a:rPr dirty="0"/>
              <a:t>PERKEMBANGAN KOMPUTER</a:t>
            </a:r>
          </a:p>
        </p:txBody>
      </p:sp>
      <p:sp>
        <p:nvSpPr>
          <p:cNvPr id="3" name="TextBox 2"/>
          <p:cNvSpPr txBox="1"/>
          <p:nvPr/>
        </p:nvSpPr>
        <p:spPr>
          <a:xfrm>
            <a:off x="731520" y="2697480"/>
            <a:ext cx="8046720" cy="594360"/>
          </a:xfrm>
          <a:prstGeom prst="rect">
            <a:avLst/>
          </a:prstGeom>
          <a:noFill/>
        </p:spPr>
        <p:txBody>
          <a:bodyPr wrap="square">
            <a:spAutoFit/>
          </a:bodyPr>
          <a:lstStyle/>
          <a:p>
            <a:pPr>
              <a:defRPr sz="1800" b="0">
                <a:solidFill>
                  <a:srgbClr val="CDCCD7"/>
                </a:solidFill>
                <a:latin typeface="Aptos"/>
              </a:defRPr>
            </a:pPr>
            <a:r>
              <a:rPr dirty="0" err="1"/>
              <a:t>Perjalanan</a:t>
            </a:r>
            <a:r>
              <a:rPr dirty="0"/>
              <a:t> </a:t>
            </a:r>
            <a:r>
              <a:rPr dirty="0" err="1"/>
              <a:t>teknologi</a:t>
            </a:r>
            <a:r>
              <a:rPr dirty="0"/>
              <a:t> </a:t>
            </a:r>
            <a:r>
              <a:rPr dirty="0" err="1"/>
              <a:t>komputer</a:t>
            </a:r>
            <a:r>
              <a:rPr dirty="0"/>
              <a:t> </a:t>
            </a:r>
            <a:r>
              <a:rPr dirty="0" err="1"/>
              <a:t>dari</a:t>
            </a:r>
            <a:r>
              <a:rPr dirty="0"/>
              <a:t> </a:t>
            </a:r>
            <a:r>
              <a:rPr dirty="0" err="1"/>
              <a:t>generasi</a:t>
            </a:r>
            <a:r>
              <a:rPr dirty="0"/>
              <a:t> </a:t>
            </a:r>
            <a:r>
              <a:rPr dirty="0" err="1"/>
              <a:t>pertama</a:t>
            </a:r>
            <a:r>
              <a:rPr dirty="0"/>
              <a:t> </a:t>
            </a:r>
            <a:r>
              <a:rPr dirty="0" err="1"/>
              <a:t>hingga</a:t>
            </a:r>
            <a:r>
              <a:rPr dirty="0"/>
              <a:t> </a:t>
            </a:r>
            <a:r>
              <a:rPr dirty="0" err="1"/>
              <a:t>generasi</a:t>
            </a:r>
            <a:r>
              <a:rPr dirty="0"/>
              <a:t> </a:t>
            </a:r>
            <a:r>
              <a:rPr dirty="0" err="1"/>
              <a:t>kelima</a:t>
            </a:r>
            <a:endParaRPr dirty="0"/>
          </a:p>
        </p:txBody>
      </p:sp>
      <p:sp>
        <p:nvSpPr>
          <p:cNvPr id="5" name="TextBox 4"/>
          <p:cNvSpPr txBox="1"/>
          <p:nvPr/>
        </p:nvSpPr>
        <p:spPr>
          <a:xfrm>
            <a:off x="472440" y="2306320"/>
            <a:ext cx="1783080" cy="274320"/>
          </a:xfrm>
          <a:prstGeom prst="rect">
            <a:avLst/>
          </a:prstGeom>
          <a:noFill/>
        </p:spPr>
        <p:txBody>
          <a:bodyPr wrap="square">
            <a:spAutoFit/>
          </a:bodyPr>
          <a:lstStyle/>
          <a:p>
            <a:pPr algn="ctr">
              <a:defRPr sz="1300" b="1">
                <a:solidFill>
                  <a:srgbClr val="F8F7FA"/>
                </a:solidFill>
                <a:latin typeface="Aptos"/>
              </a:defRPr>
            </a:pPr>
            <a:r>
              <a:rPr dirty="0"/>
              <a:t>GENERASI 1–5</a:t>
            </a:r>
          </a:p>
        </p:txBody>
      </p:sp>
      <p:sp>
        <p:nvSpPr>
          <p:cNvPr id="8" name="TextBox 7">
            <a:extLst>
              <a:ext uri="{FF2B5EF4-FFF2-40B4-BE49-F238E27FC236}">
                <a16:creationId xmlns:a16="http://schemas.microsoft.com/office/drawing/2014/main" id="{C769AE21-C8A6-2A80-2A1A-A20921E8DD1D}"/>
              </a:ext>
            </a:extLst>
          </p:cNvPr>
          <p:cNvSpPr txBox="1"/>
          <p:nvPr/>
        </p:nvSpPr>
        <p:spPr>
          <a:xfrm>
            <a:off x="731520" y="3639790"/>
            <a:ext cx="4384040" cy="2754600"/>
          </a:xfrm>
          <a:prstGeom prst="rect">
            <a:avLst/>
          </a:prstGeom>
          <a:noFill/>
        </p:spPr>
        <p:txBody>
          <a:bodyPr wrap="square">
            <a:spAutoFit/>
          </a:bodyPr>
          <a:lstStyle/>
          <a:p>
            <a:pPr>
              <a:defRPr sz="1300" b="1">
                <a:solidFill>
                  <a:srgbClr val="F8F7FA"/>
                </a:solidFill>
                <a:latin typeface="Aptos"/>
              </a:defRPr>
            </a:pPr>
            <a:r>
              <a:rPr lang="en-US" sz="1600" dirty="0" err="1"/>
              <a:t>Kelompok</a:t>
            </a:r>
            <a:r>
              <a:rPr lang="en-US" sz="1600" dirty="0"/>
              <a:t> 3 </a:t>
            </a:r>
          </a:p>
          <a:p>
            <a:pPr marL="285750" indent="-285750">
              <a:buFont typeface="Arial" panose="020B0604020202020204" pitchFamily="34" charset="0"/>
              <a:buChar char="•"/>
              <a:defRPr sz="1300" b="1">
                <a:solidFill>
                  <a:srgbClr val="F8F7FA"/>
                </a:solidFill>
                <a:latin typeface="Aptos"/>
              </a:defRPr>
            </a:pPr>
            <a:r>
              <a:rPr lang="en-US" sz="1600" dirty="0"/>
              <a:t>Bachtiar </a:t>
            </a:r>
            <a:r>
              <a:rPr lang="en-US" sz="1600" dirty="0" err="1"/>
              <a:t>Abrisam</a:t>
            </a:r>
            <a:r>
              <a:rPr lang="en-US" sz="1600" dirty="0"/>
              <a:t> Fernando (</a:t>
            </a:r>
            <a:r>
              <a:rPr lang="en-ID" sz="1600" b="1" dirty="0">
                <a:solidFill>
                  <a:srgbClr val="F8F7FA"/>
                </a:solidFill>
                <a:latin typeface="Aptos"/>
              </a:rPr>
              <a:t>1412260044)</a:t>
            </a:r>
          </a:p>
          <a:p>
            <a:pPr marL="285750" indent="-285750">
              <a:buFont typeface="Arial" panose="020B0604020202020204" pitchFamily="34" charset="0"/>
              <a:buChar char="•"/>
              <a:defRPr sz="1300" b="1">
                <a:solidFill>
                  <a:srgbClr val="F8F7FA"/>
                </a:solidFill>
                <a:latin typeface="Aptos"/>
              </a:defRPr>
            </a:pPr>
            <a:r>
              <a:rPr lang="en-ID" sz="1600" b="1" dirty="0">
                <a:solidFill>
                  <a:srgbClr val="F8F7FA"/>
                </a:solidFill>
                <a:latin typeface="Aptos"/>
              </a:rPr>
              <a:t>Evander Javas ( 1412260056 )</a:t>
            </a:r>
          </a:p>
          <a:p>
            <a:pPr marL="285750" indent="-285750">
              <a:buFont typeface="Arial" panose="020B0604020202020204" pitchFamily="34" charset="0"/>
              <a:buChar char="•"/>
              <a:defRPr sz="1300" b="1">
                <a:solidFill>
                  <a:srgbClr val="F8F7FA"/>
                </a:solidFill>
                <a:latin typeface="Aptos"/>
              </a:defRPr>
            </a:pPr>
            <a:r>
              <a:rPr lang="en-ID" sz="1600" b="1" dirty="0" err="1">
                <a:solidFill>
                  <a:srgbClr val="F8F7FA"/>
                </a:solidFill>
                <a:latin typeface="Aptos"/>
              </a:rPr>
              <a:t>Saadatin</a:t>
            </a:r>
            <a:r>
              <a:rPr lang="en-ID" sz="1600" b="1" dirty="0">
                <a:solidFill>
                  <a:srgbClr val="F8F7FA"/>
                </a:solidFill>
                <a:latin typeface="Aptos"/>
              </a:rPr>
              <a:t> Nafisah </a:t>
            </a:r>
            <a:r>
              <a:rPr lang="en-ID" sz="1600" b="1" dirty="0" err="1">
                <a:solidFill>
                  <a:srgbClr val="F8F7FA"/>
                </a:solidFill>
                <a:latin typeface="Aptos"/>
              </a:rPr>
              <a:t>Widiyas</a:t>
            </a:r>
            <a:r>
              <a:rPr lang="en-ID" sz="1600" b="1" dirty="0">
                <a:solidFill>
                  <a:srgbClr val="F8F7FA"/>
                </a:solidFill>
                <a:latin typeface="Aptos"/>
              </a:rPr>
              <a:t> </a:t>
            </a:r>
            <a:r>
              <a:rPr lang="en-ID" sz="1600" b="1" dirty="0" err="1">
                <a:solidFill>
                  <a:srgbClr val="F8F7FA"/>
                </a:solidFill>
                <a:latin typeface="Aptos"/>
              </a:rPr>
              <a:t>Tuty</a:t>
            </a:r>
            <a:r>
              <a:rPr lang="en-ID" sz="1600" b="1" dirty="0">
                <a:solidFill>
                  <a:srgbClr val="F8F7FA"/>
                </a:solidFill>
                <a:latin typeface="Aptos"/>
              </a:rPr>
              <a:t> ( 1412260031 ) </a:t>
            </a:r>
          </a:p>
          <a:p>
            <a:pPr marL="285750" indent="-285750">
              <a:buFont typeface="Arial" panose="020B0604020202020204" pitchFamily="34" charset="0"/>
              <a:buChar char="•"/>
              <a:defRPr sz="1300" b="1">
                <a:solidFill>
                  <a:srgbClr val="F8F7FA"/>
                </a:solidFill>
                <a:latin typeface="Aptos"/>
              </a:defRPr>
            </a:pPr>
            <a:r>
              <a:rPr lang="en-ID" sz="1600" b="1" dirty="0" err="1">
                <a:solidFill>
                  <a:srgbClr val="F8F7FA"/>
                </a:solidFill>
                <a:latin typeface="Aptos"/>
              </a:rPr>
              <a:t>Mitfachul</a:t>
            </a:r>
            <a:r>
              <a:rPr lang="en-ID" sz="1600" b="1" dirty="0">
                <a:solidFill>
                  <a:srgbClr val="F8F7FA"/>
                </a:solidFill>
                <a:latin typeface="Aptos"/>
              </a:rPr>
              <a:t> </a:t>
            </a:r>
            <a:r>
              <a:rPr lang="en-ID" sz="1600" b="1" dirty="0" err="1">
                <a:solidFill>
                  <a:srgbClr val="F8F7FA"/>
                </a:solidFill>
                <a:latin typeface="Aptos"/>
              </a:rPr>
              <a:t>Ulum</a:t>
            </a:r>
            <a:r>
              <a:rPr lang="en-ID" sz="1600" b="1" dirty="0">
                <a:solidFill>
                  <a:srgbClr val="F8F7FA"/>
                </a:solidFill>
                <a:latin typeface="Aptos"/>
              </a:rPr>
              <a:t> Satria </a:t>
            </a:r>
            <a:r>
              <a:rPr lang="en-ID" sz="1600" b="1" dirty="0" err="1">
                <a:solidFill>
                  <a:srgbClr val="F8F7FA"/>
                </a:solidFill>
                <a:latin typeface="Aptos"/>
              </a:rPr>
              <a:t>Purwandika</a:t>
            </a:r>
            <a:r>
              <a:rPr lang="en-ID" sz="1600" b="1" dirty="0">
                <a:solidFill>
                  <a:srgbClr val="F8F7FA"/>
                </a:solidFill>
                <a:latin typeface="Aptos"/>
              </a:rPr>
              <a:t> ( 1412260060 ) </a:t>
            </a:r>
          </a:p>
          <a:p>
            <a:pPr marL="285750" indent="-285750">
              <a:buFont typeface="Arial" panose="020B0604020202020204" pitchFamily="34" charset="0"/>
              <a:buChar char="•"/>
              <a:defRPr sz="1300" b="1">
                <a:solidFill>
                  <a:srgbClr val="F8F7FA"/>
                </a:solidFill>
                <a:latin typeface="Aptos"/>
              </a:defRPr>
            </a:pPr>
            <a:endParaRPr lang="en-ID" sz="1600" b="1" dirty="0">
              <a:solidFill>
                <a:srgbClr val="F8F7FA"/>
              </a:solidFill>
              <a:latin typeface="Aptos"/>
            </a:endParaRPr>
          </a:p>
          <a:p>
            <a:pPr marL="285750" indent="-285750">
              <a:buFont typeface="Arial" panose="020B0604020202020204" pitchFamily="34" charset="0"/>
              <a:buChar char="•"/>
              <a:defRPr sz="1300" b="1">
                <a:solidFill>
                  <a:srgbClr val="F8F7FA"/>
                </a:solidFill>
                <a:latin typeface="Aptos"/>
              </a:defRPr>
            </a:pPr>
            <a:endParaRPr lang="en-ID" sz="1600" b="1" dirty="0">
              <a:solidFill>
                <a:srgbClr val="F8F7FA"/>
              </a:solidFill>
              <a:latin typeface="Aptos"/>
            </a:endParaRPr>
          </a:p>
          <a:p>
            <a:pPr marL="285750" indent="-285750">
              <a:buFont typeface="Arial" panose="020B0604020202020204" pitchFamily="34" charset="0"/>
              <a:buChar char="•"/>
              <a:defRPr sz="1300" b="1">
                <a:solidFill>
                  <a:srgbClr val="F8F7FA"/>
                </a:solidFill>
                <a:latin typeface="Aptos"/>
              </a:defRPr>
            </a:pPr>
            <a:endParaRPr lang="en-ID" sz="1600" b="1" dirty="0">
              <a:solidFill>
                <a:srgbClr val="F8F7FA"/>
              </a:solidFill>
              <a:latin typeface="Aptos"/>
            </a:endParaRPr>
          </a:p>
          <a:p>
            <a:pPr marL="285750" indent="-285750" algn="ctr">
              <a:buFont typeface="Arial" panose="020B0604020202020204" pitchFamily="34" charset="0"/>
              <a:buChar char="•"/>
              <a:defRPr sz="1300" b="1">
                <a:solidFill>
                  <a:srgbClr val="F8F7FA"/>
                </a:solidFill>
                <a:latin typeface="Aptos"/>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6400800" cy="548640"/>
          </a:xfrm>
          <a:prstGeom prst="rect">
            <a:avLst/>
          </a:prstGeom>
          <a:noFill/>
        </p:spPr>
        <p:txBody>
          <a:bodyPr wrap="square">
            <a:spAutoFit/>
          </a:bodyPr>
          <a:lstStyle/>
          <a:p>
            <a:pPr>
              <a:defRPr sz="2800" b="1">
                <a:solidFill>
                  <a:srgbClr val="F8F7FA"/>
                </a:solidFill>
                <a:latin typeface="Aptos"/>
              </a:defRPr>
            </a:pPr>
            <a:r>
              <a:t>Gambaran Umum</a:t>
            </a:r>
          </a:p>
        </p:txBody>
      </p:sp>
      <p:sp>
        <p:nvSpPr>
          <p:cNvPr id="3" name="TextBox 2"/>
          <p:cNvSpPr txBox="1"/>
          <p:nvPr/>
        </p:nvSpPr>
        <p:spPr>
          <a:xfrm>
            <a:off x="658368" y="1097280"/>
            <a:ext cx="10698480" cy="731520"/>
          </a:xfrm>
          <a:prstGeom prst="rect">
            <a:avLst/>
          </a:prstGeom>
          <a:noFill/>
        </p:spPr>
        <p:txBody>
          <a:bodyPr wrap="square">
            <a:spAutoFit/>
          </a:bodyPr>
          <a:lstStyle/>
          <a:p>
            <a:pPr>
              <a:defRPr sz="1600" b="0">
                <a:solidFill>
                  <a:srgbClr val="CDCCD7"/>
                </a:solidFill>
                <a:latin typeface="Aptos"/>
              </a:defRPr>
            </a:pPr>
            <a:r>
              <a:t>Perkembangan komputer berlangsung melalui perubahan teknologi yang membuat komputer semakin kecil, cepat, efisien, dan memiliki kemampuan yang semakin luas.</a:t>
            </a:r>
          </a:p>
        </p:txBody>
      </p:sp>
      <p:sp>
        <p:nvSpPr>
          <p:cNvPr id="4" name="Rounded Rectangle 3"/>
          <p:cNvSpPr/>
          <p:nvPr/>
        </p:nvSpPr>
        <p:spPr>
          <a:xfrm>
            <a:off x="685800" y="2148840"/>
            <a:ext cx="10698480" cy="32004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468880"/>
            <a:ext cx="9875520" cy="457200"/>
          </a:xfrm>
          <a:prstGeom prst="rect">
            <a:avLst/>
          </a:prstGeom>
          <a:noFill/>
        </p:spPr>
        <p:txBody>
          <a:bodyPr wrap="square">
            <a:spAutoFit/>
          </a:bodyPr>
          <a:lstStyle/>
          <a:p>
            <a:pPr>
              <a:defRPr sz="2100" b="1">
                <a:solidFill>
                  <a:srgbClr val="E1A8C4"/>
                </a:solidFill>
                <a:latin typeface="Aptos"/>
              </a:defRPr>
            </a:pPr>
            <a:r>
              <a:t>Dari mesin besar menuju komputasi modern</a:t>
            </a:r>
          </a:p>
        </p:txBody>
      </p:sp>
      <p:sp>
        <p:nvSpPr>
          <p:cNvPr id="6" name="TextBox 5"/>
          <p:cNvSpPr txBox="1"/>
          <p:nvPr/>
        </p:nvSpPr>
        <p:spPr>
          <a:xfrm>
            <a:off x="960120" y="3063240"/>
            <a:ext cx="9875520" cy="1645920"/>
          </a:xfrm>
          <a:prstGeom prst="rect">
            <a:avLst/>
          </a:prstGeom>
          <a:noFill/>
        </p:spPr>
        <p:txBody>
          <a:bodyPr wrap="square">
            <a:spAutoFit/>
          </a:bodyPr>
          <a:lstStyle/>
          <a:p>
            <a:pPr>
              <a:defRPr sz="1500" b="0">
                <a:solidFill>
                  <a:srgbClr val="F8F7FA"/>
                </a:solidFill>
                <a:latin typeface="Aptos"/>
              </a:defRPr>
            </a:pPr>
            <a:r>
              <a:t>Generasi pertama menggunakan tabung vakum dan berukuran sangat besar. Generasi kedua menggantikannya dengan transistor. Generasi ketiga menggunakan sirkuit terpadu (IC), sedangkan generasi keempat berkembang melalui LSI, VLSI, ULSI, dan mikroprosesor. Pada materi sumber, generasi kelima dikaitkan dengan kecerdasan buatan, pemrosesan paralel, dan superkonduktor.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7315200" cy="548640"/>
          </a:xfrm>
          <a:prstGeom prst="rect">
            <a:avLst/>
          </a:prstGeom>
          <a:noFill/>
        </p:spPr>
        <p:txBody>
          <a:bodyPr wrap="square">
            <a:spAutoFit/>
          </a:bodyPr>
          <a:lstStyle/>
          <a:p>
            <a:pPr>
              <a:defRPr sz="2800" b="1">
                <a:solidFill>
                  <a:srgbClr val="F8F7FA"/>
                </a:solidFill>
                <a:latin typeface="Aptos"/>
              </a:defRPr>
            </a:pPr>
            <a:r>
              <a:t>Lima Generasi Komputer</a:t>
            </a:r>
          </a:p>
        </p:txBody>
      </p:sp>
      <p:sp>
        <p:nvSpPr>
          <p:cNvPr id="3" name="Rounded Rectangle 2"/>
          <p:cNvSpPr/>
          <p:nvPr/>
        </p:nvSpPr>
        <p:spPr>
          <a:xfrm>
            <a:off x="685800" y="1325880"/>
            <a:ext cx="10698480" cy="749808"/>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1490472"/>
            <a:ext cx="502920" cy="320040"/>
          </a:xfrm>
          <a:prstGeom prst="rect">
            <a:avLst/>
          </a:prstGeom>
          <a:noFill/>
        </p:spPr>
        <p:txBody>
          <a:bodyPr wrap="square">
            <a:spAutoFit/>
          </a:bodyPr>
          <a:lstStyle/>
          <a:p>
            <a:pPr>
              <a:defRPr sz="1500" b="1">
                <a:solidFill>
                  <a:srgbClr val="E1A8C4"/>
                </a:solidFill>
                <a:latin typeface="Aptos"/>
              </a:defRPr>
            </a:pPr>
            <a:r>
              <a:t>01</a:t>
            </a:r>
          </a:p>
        </p:txBody>
      </p:sp>
      <p:sp>
        <p:nvSpPr>
          <p:cNvPr id="5" name="TextBox 4"/>
          <p:cNvSpPr txBox="1"/>
          <p:nvPr/>
        </p:nvSpPr>
        <p:spPr>
          <a:xfrm>
            <a:off x="1554480" y="1444752"/>
            <a:ext cx="6583680" cy="365760"/>
          </a:xfrm>
          <a:prstGeom prst="rect">
            <a:avLst/>
          </a:prstGeom>
          <a:noFill/>
        </p:spPr>
        <p:txBody>
          <a:bodyPr wrap="square">
            <a:spAutoFit/>
          </a:bodyPr>
          <a:lstStyle/>
          <a:p>
            <a:pPr>
              <a:defRPr sz="1700" b="1">
                <a:solidFill>
                  <a:srgbClr val="F8F7FA"/>
                </a:solidFill>
                <a:latin typeface="Aptos"/>
              </a:defRPr>
            </a:pPr>
            <a:r>
              <a:t>Tabung vakum</a:t>
            </a:r>
          </a:p>
        </p:txBody>
      </p:sp>
      <p:sp>
        <p:nvSpPr>
          <p:cNvPr id="6" name="TextBox 5"/>
          <p:cNvSpPr txBox="1"/>
          <p:nvPr/>
        </p:nvSpPr>
        <p:spPr>
          <a:xfrm>
            <a:off x="8549640" y="1490472"/>
            <a:ext cx="2286000" cy="320040"/>
          </a:xfrm>
          <a:prstGeom prst="rect">
            <a:avLst/>
          </a:prstGeom>
          <a:noFill/>
        </p:spPr>
        <p:txBody>
          <a:bodyPr wrap="square">
            <a:spAutoFit/>
          </a:bodyPr>
          <a:lstStyle/>
          <a:p>
            <a:pPr>
              <a:defRPr sz="1200" b="0">
                <a:solidFill>
                  <a:srgbClr val="CDCCD7"/>
                </a:solidFill>
                <a:latin typeface="Aptos"/>
              </a:defRPr>
            </a:pPr>
            <a:r>
              <a:t>1937–1950-an</a:t>
            </a:r>
          </a:p>
        </p:txBody>
      </p:sp>
      <p:sp>
        <p:nvSpPr>
          <p:cNvPr id="7" name="Rounded Rectangle 6"/>
          <p:cNvSpPr/>
          <p:nvPr/>
        </p:nvSpPr>
        <p:spPr>
          <a:xfrm>
            <a:off x="685800" y="2286000"/>
            <a:ext cx="10698480" cy="749808"/>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450592"/>
            <a:ext cx="502920" cy="320040"/>
          </a:xfrm>
          <a:prstGeom prst="rect">
            <a:avLst/>
          </a:prstGeom>
          <a:noFill/>
        </p:spPr>
        <p:txBody>
          <a:bodyPr wrap="square">
            <a:spAutoFit/>
          </a:bodyPr>
          <a:lstStyle/>
          <a:p>
            <a:pPr>
              <a:defRPr sz="1500" b="1">
                <a:solidFill>
                  <a:srgbClr val="E1A8C4"/>
                </a:solidFill>
                <a:latin typeface="Aptos"/>
              </a:defRPr>
            </a:pPr>
            <a:r>
              <a:t>02</a:t>
            </a:r>
          </a:p>
        </p:txBody>
      </p:sp>
      <p:sp>
        <p:nvSpPr>
          <p:cNvPr id="9" name="TextBox 8"/>
          <p:cNvSpPr txBox="1"/>
          <p:nvPr/>
        </p:nvSpPr>
        <p:spPr>
          <a:xfrm>
            <a:off x="1554480" y="2404872"/>
            <a:ext cx="6583680" cy="365760"/>
          </a:xfrm>
          <a:prstGeom prst="rect">
            <a:avLst/>
          </a:prstGeom>
          <a:noFill/>
        </p:spPr>
        <p:txBody>
          <a:bodyPr wrap="square">
            <a:spAutoFit/>
          </a:bodyPr>
          <a:lstStyle/>
          <a:p>
            <a:pPr>
              <a:defRPr sz="1700" b="1">
                <a:solidFill>
                  <a:srgbClr val="F8F7FA"/>
                </a:solidFill>
                <a:latin typeface="Aptos"/>
              </a:defRPr>
            </a:pPr>
            <a:r>
              <a:t>Transistor &amp; memori inti magnetik</a:t>
            </a:r>
          </a:p>
        </p:txBody>
      </p:sp>
      <p:sp>
        <p:nvSpPr>
          <p:cNvPr id="10" name="TextBox 9"/>
          <p:cNvSpPr txBox="1"/>
          <p:nvPr/>
        </p:nvSpPr>
        <p:spPr>
          <a:xfrm>
            <a:off x="8549640" y="2450592"/>
            <a:ext cx="2286000" cy="320040"/>
          </a:xfrm>
          <a:prstGeom prst="rect">
            <a:avLst/>
          </a:prstGeom>
          <a:noFill/>
        </p:spPr>
        <p:txBody>
          <a:bodyPr wrap="square">
            <a:spAutoFit/>
          </a:bodyPr>
          <a:lstStyle/>
          <a:p>
            <a:pPr>
              <a:defRPr sz="1200" b="0">
                <a:solidFill>
                  <a:srgbClr val="CDCCD7"/>
                </a:solidFill>
                <a:latin typeface="Aptos"/>
              </a:defRPr>
            </a:pPr>
            <a:r>
              <a:t>±1956–1963</a:t>
            </a:r>
          </a:p>
        </p:txBody>
      </p:sp>
      <p:sp>
        <p:nvSpPr>
          <p:cNvPr id="11" name="Rounded Rectangle 10"/>
          <p:cNvSpPr/>
          <p:nvPr/>
        </p:nvSpPr>
        <p:spPr>
          <a:xfrm>
            <a:off x="685800" y="3246120"/>
            <a:ext cx="10698480" cy="749808"/>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3410712"/>
            <a:ext cx="502920" cy="320040"/>
          </a:xfrm>
          <a:prstGeom prst="rect">
            <a:avLst/>
          </a:prstGeom>
          <a:noFill/>
        </p:spPr>
        <p:txBody>
          <a:bodyPr wrap="square">
            <a:spAutoFit/>
          </a:bodyPr>
          <a:lstStyle/>
          <a:p>
            <a:pPr>
              <a:defRPr sz="1500" b="1">
                <a:solidFill>
                  <a:srgbClr val="E1A8C4"/>
                </a:solidFill>
                <a:latin typeface="Aptos"/>
              </a:defRPr>
            </a:pPr>
            <a:r>
              <a:t>03</a:t>
            </a:r>
          </a:p>
        </p:txBody>
      </p:sp>
      <p:sp>
        <p:nvSpPr>
          <p:cNvPr id="13" name="TextBox 12"/>
          <p:cNvSpPr txBox="1"/>
          <p:nvPr/>
        </p:nvSpPr>
        <p:spPr>
          <a:xfrm>
            <a:off x="1554480" y="3364991"/>
            <a:ext cx="6583680" cy="365760"/>
          </a:xfrm>
          <a:prstGeom prst="rect">
            <a:avLst/>
          </a:prstGeom>
          <a:noFill/>
        </p:spPr>
        <p:txBody>
          <a:bodyPr wrap="square">
            <a:spAutoFit/>
          </a:bodyPr>
          <a:lstStyle/>
          <a:p>
            <a:pPr>
              <a:defRPr sz="1700" b="1">
                <a:solidFill>
                  <a:srgbClr val="F8F7FA"/>
                </a:solidFill>
                <a:latin typeface="Aptos"/>
              </a:defRPr>
            </a:pPr>
            <a:r>
              <a:t>Sirkuit terpadu (IC)</a:t>
            </a:r>
          </a:p>
        </p:txBody>
      </p:sp>
      <p:sp>
        <p:nvSpPr>
          <p:cNvPr id="14" name="TextBox 13"/>
          <p:cNvSpPr txBox="1"/>
          <p:nvPr/>
        </p:nvSpPr>
        <p:spPr>
          <a:xfrm>
            <a:off x="8549640" y="3410712"/>
            <a:ext cx="2286000" cy="320040"/>
          </a:xfrm>
          <a:prstGeom prst="rect">
            <a:avLst/>
          </a:prstGeom>
          <a:noFill/>
        </p:spPr>
        <p:txBody>
          <a:bodyPr wrap="square">
            <a:spAutoFit/>
          </a:bodyPr>
          <a:lstStyle/>
          <a:p>
            <a:pPr>
              <a:defRPr sz="1200" b="0">
                <a:solidFill>
                  <a:srgbClr val="CDCCD7"/>
                </a:solidFill>
                <a:latin typeface="Aptos"/>
              </a:defRPr>
            </a:pPr>
            <a:r>
              <a:t>±1964–1970-an</a:t>
            </a:r>
          </a:p>
        </p:txBody>
      </p:sp>
      <p:sp>
        <p:nvSpPr>
          <p:cNvPr id="15" name="Rounded Rectangle 14"/>
          <p:cNvSpPr/>
          <p:nvPr/>
        </p:nvSpPr>
        <p:spPr>
          <a:xfrm>
            <a:off x="685800" y="4206240"/>
            <a:ext cx="10698480" cy="749808"/>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4370832"/>
            <a:ext cx="502920" cy="320040"/>
          </a:xfrm>
          <a:prstGeom prst="rect">
            <a:avLst/>
          </a:prstGeom>
          <a:noFill/>
        </p:spPr>
        <p:txBody>
          <a:bodyPr wrap="square">
            <a:spAutoFit/>
          </a:bodyPr>
          <a:lstStyle/>
          <a:p>
            <a:pPr>
              <a:defRPr sz="1500" b="1">
                <a:solidFill>
                  <a:srgbClr val="E1A8C4"/>
                </a:solidFill>
                <a:latin typeface="Aptos"/>
              </a:defRPr>
            </a:pPr>
            <a:r>
              <a:t>04</a:t>
            </a:r>
          </a:p>
        </p:txBody>
      </p:sp>
      <p:sp>
        <p:nvSpPr>
          <p:cNvPr id="17" name="TextBox 16"/>
          <p:cNvSpPr txBox="1"/>
          <p:nvPr/>
        </p:nvSpPr>
        <p:spPr>
          <a:xfrm>
            <a:off x="1554480" y="4325112"/>
            <a:ext cx="6583680" cy="365760"/>
          </a:xfrm>
          <a:prstGeom prst="rect">
            <a:avLst/>
          </a:prstGeom>
          <a:noFill/>
        </p:spPr>
        <p:txBody>
          <a:bodyPr wrap="square">
            <a:spAutoFit/>
          </a:bodyPr>
          <a:lstStyle/>
          <a:p>
            <a:pPr>
              <a:defRPr sz="1700" b="1">
                <a:solidFill>
                  <a:srgbClr val="F8F7FA"/>
                </a:solidFill>
                <a:latin typeface="Aptos"/>
              </a:defRPr>
            </a:pPr>
            <a:r>
              <a:t>LSI, VLSI, ULSI &amp; mikroprosesor</a:t>
            </a:r>
          </a:p>
        </p:txBody>
      </p:sp>
      <p:sp>
        <p:nvSpPr>
          <p:cNvPr id="18" name="TextBox 17"/>
          <p:cNvSpPr txBox="1"/>
          <p:nvPr/>
        </p:nvSpPr>
        <p:spPr>
          <a:xfrm>
            <a:off x="8549640" y="4370832"/>
            <a:ext cx="2286000" cy="320040"/>
          </a:xfrm>
          <a:prstGeom prst="rect">
            <a:avLst/>
          </a:prstGeom>
          <a:noFill/>
        </p:spPr>
        <p:txBody>
          <a:bodyPr wrap="square">
            <a:spAutoFit/>
          </a:bodyPr>
          <a:lstStyle/>
          <a:p>
            <a:pPr>
              <a:defRPr sz="1200" b="0">
                <a:solidFill>
                  <a:srgbClr val="CDCCD7"/>
                </a:solidFill>
                <a:latin typeface="Aptos"/>
              </a:defRPr>
            </a:pPr>
            <a:r>
              <a:t>1970-an–sekarang</a:t>
            </a:r>
          </a:p>
        </p:txBody>
      </p:sp>
      <p:sp>
        <p:nvSpPr>
          <p:cNvPr id="19" name="Rounded Rectangle 18"/>
          <p:cNvSpPr/>
          <p:nvPr/>
        </p:nvSpPr>
        <p:spPr>
          <a:xfrm>
            <a:off x="685800" y="5166360"/>
            <a:ext cx="10698480" cy="749808"/>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5330952"/>
            <a:ext cx="502920" cy="320040"/>
          </a:xfrm>
          <a:prstGeom prst="rect">
            <a:avLst/>
          </a:prstGeom>
          <a:noFill/>
        </p:spPr>
        <p:txBody>
          <a:bodyPr wrap="square">
            <a:spAutoFit/>
          </a:bodyPr>
          <a:lstStyle/>
          <a:p>
            <a:pPr>
              <a:defRPr sz="1500" b="1">
                <a:solidFill>
                  <a:srgbClr val="E1A8C4"/>
                </a:solidFill>
                <a:latin typeface="Aptos"/>
              </a:defRPr>
            </a:pPr>
            <a:r>
              <a:t>05</a:t>
            </a:r>
          </a:p>
        </p:txBody>
      </p:sp>
      <p:sp>
        <p:nvSpPr>
          <p:cNvPr id="21" name="TextBox 20"/>
          <p:cNvSpPr txBox="1"/>
          <p:nvPr/>
        </p:nvSpPr>
        <p:spPr>
          <a:xfrm>
            <a:off x="1554480" y="5285232"/>
            <a:ext cx="6583680" cy="365760"/>
          </a:xfrm>
          <a:prstGeom prst="rect">
            <a:avLst/>
          </a:prstGeom>
          <a:noFill/>
        </p:spPr>
        <p:txBody>
          <a:bodyPr wrap="square">
            <a:spAutoFit/>
          </a:bodyPr>
          <a:lstStyle/>
          <a:p>
            <a:pPr>
              <a:defRPr sz="1700" b="1">
                <a:solidFill>
                  <a:srgbClr val="F8F7FA"/>
                </a:solidFill>
                <a:latin typeface="Aptos"/>
              </a:defRPr>
            </a:pPr>
            <a:r>
              <a:t>AI, pemrosesan paralel &amp; superkonduktor</a:t>
            </a:r>
          </a:p>
        </p:txBody>
      </p:sp>
      <p:sp>
        <p:nvSpPr>
          <p:cNvPr id="22" name="TextBox 21"/>
          <p:cNvSpPr txBox="1"/>
          <p:nvPr/>
        </p:nvSpPr>
        <p:spPr>
          <a:xfrm>
            <a:off x="8549640" y="5330952"/>
            <a:ext cx="2286000" cy="320040"/>
          </a:xfrm>
          <a:prstGeom prst="rect">
            <a:avLst/>
          </a:prstGeom>
          <a:noFill/>
        </p:spPr>
        <p:txBody>
          <a:bodyPr wrap="square">
            <a:spAutoFit/>
          </a:bodyPr>
          <a:lstStyle/>
          <a:p>
            <a:pPr>
              <a:defRPr sz="1200" b="0">
                <a:solidFill>
                  <a:srgbClr val="CDCCD7"/>
                </a:solidFill>
                <a:latin typeface="Aptos"/>
              </a:defRPr>
            </a:pPr>
            <a:r>
              <a:t>Masa kini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6400800" cy="502920"/>
          </a:xfrm>
          <a:prstGeom prst="rect">
            <a:avLst/>
          </a:prstGeom>
          <a:noFill/>
        </p:spPr>
        <p:txBody>
          <a:bodyPr wrap="square">
            <a:spAutoFit/>
          </a:bodyPr>
          <a:lstStyle/>
          <a:p>
            <a:pPr>
              <a:defRPr sz="2700" b="1">
                <a:solidFill>
                  <a:srgbClr val="F8F7FA"/>
                </a:solidFill>
                <a:latin typeface="Aptos"/>
              </a:defRPr>
            </a:pPr>
            <a:r>
              <a:t>GENERASI 1</a:t>
            </a:r>
          </a:p>
        </p:txBody>
      </p:sp>
      <p:sp>
        <p:nvSpPr>
          <p:cNvPr id="3" name="TextBox 2"/>
          <p:cNvSpPr txBox="1"/>
          <p:nvPr/>
        </p:nvSpPr>
        <p:spPr>
          <a:xfrm>
            <a:off x="658368" y="896112"/>
            <a:ext cx="2743200" cy="320040"/>
          </a:xfrm>
          <a:prstGeom prst="rect">
            <a:avLst/>
          </a:prstGeom>
          <a:noFill/>
        </p:spPr>
        <p:txBody>
          <a:bodyPr wrap="square">
            <a:spAutoFit/>
          </a:bodyPr>
          <a:lstStyle/>
          <a:p>
            <a:pPr>
              <a:defRPr sz="1200" b="1">
                <a:solidFill>
                  <a:srgbClr val="E1A8C4"/>
                </a:solidFill>
                <a:latin typeface="Aptos"/>
              </a:defRPr>
            </a:pPr>
            <a:r>
              <a:t>1937–1950-an</a:t>
            </a:r>
          </a:p>
        </p:txBody>
      </p:sp>
      <p:sp>
        <p:nvSpPr>
          <p:cNvPr id="4" name="Rounded Rectangle 3"/>
          <p:cNvSpPr/>
          <p:nvPr/>
        </p:nvSpPr>
        <p:spPr>
          <a:xfrm>
            <a:off x="640080" y="1325880"/>
            <a:ext cx="10881360" cy="566928"/>
          </a:xfrm>
          <a:prstGeom prst="roundRect">
            <a:avLst/>
          </a:prstGeom>
          <a:solidFill>
            <a:srgbClr val="715B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72184"/>
            <a:ext cx="10241280" cy="292608"/>
          </a:xfrm>
          <a:prstGeom prst="rect">
            <a:avLst/>
          </a:prstGeom>
          <a:noFill/>
        </p:spPr>
        <p:txBody>
          <a:bodyPr wrap="square">
            <a:spAutoFit/>
          </a:bodyPr>
          <a:lstStyle/>
          <a:p>
            <a:pPr>
              <a:defRPr sz="1600" b="1">
                <a:solidFill>
                  <a:srgbClr val="F8F7FA"/>
                </a:solidFill>
                <a:latin typeface="Aptos"/>
              </a:defRPr>
            </a:pPr>
            <a:r>
              <a:t>TABUNG VAKUM</a:t>
            </a:r>
          </a:p>
        </p:txBody>
      </p:sp>
      <p:sp>
        <p:nvSpPr>
          <p:cNvPr id="6" name="TextBox 5"/>
          <p:cNvSpPr txBox="1"/>
          <p:nvPr/>
        </p:nvSpPr>
        <p:spPr>
          <a:xfrm>
            <a:off x="749808" y="2084831"/>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7" name="TextBox 6"/>
          <p:cNvSpPr txBox="1"/>
          <p:nvPr/>
        </p:nvSpPr>
        <p:spPr>
          <a:xfrm>
            <a:off x="1078992" y="2066543"/>
            <a:ext cx="10104120" cy="713232"/>
          </a:xfrm>
          <a:prstGeom prst="rect">
            <a:avLst/>
          </a:prstGeom>
          <a:noFill/>
        </p:spPr>
        <p:txBody>
          <a:bodyPr wrap="square">
            <a:spAutoFit/>
          </a:bodyPr>
          <a:lstStyle/>
          <a:p>
            <a:pPr>
              <a:defRPr sz="1270" b="0">
                <a:solidFill>
                  <a:srgbClr val="F8F7FA"/>
                </a:solidFill>
                <a:latin typeface="Aptos"/>
              </a:defRPr>
            </a:pPr>
            <a:r>
              <a:t>Generasi pertama berkembang ketika komputer mulai digunakan untuk kebutuhan akademik dan militer. Salah satu contoh awal adalah Atanasoff-Berry Computer yang dibuat pada tahun 1937 untuk menyelesaikan sistem persamaan linear.</a:t>
            </a:r>
          </a:p>
        </p:txBody>
      </p:sp>
      <p:sp>
        <p:nvSpPr>
          <p:cNvPr id="8" name="TextBox 7"/>
          <p:cNvSpPr txBox="1"/>
          <p:nvPr/>
        </p:nvSpPr>
        <p:spPr>
          <a:xfrm>
            <a:off x="749808" y="2980944"/>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9" name="TextBox 8"/>
          <p:cNvSpPr txBox="1"/>
          <p:nvPr/>
        </p:nvSpPr>
        <p:spPr>
          <a:xfrm>
            <a:off x="1078992" y="2962656"/>
            <a:ext cx="10104120" cy="713232"/>
          </a:xfrm>
          <a:prstGeom prst="rect">
            <a:avLst/>
          </a:prstGeom>
          <a:noFill/>
        </p:spPr>
        <p:txBody>
          <a:bodyPr wrap="square">
            <a:spAutoFit/>
          </a:bodyPr>
          <a:lstStyle/>
          <a:p>
            <a:pPr>
              <a:defRPr sz="1270" b="0">
                <a:solidFill>
                  <a:srgbClr val="F8F7FA"/>
                </a:solidFill>
                <a:latin typeface="Aptos"/>
              </a:defRPr>
            </a:pPr>
            <a:r>
              <a:t>Komputer generasi ini menggunakan tabung vakum dan memiliki ukuran yang sangat besar, bahkan dapat memenuhi satu ruangan. Instruksi operasi dibuat secara spesifik untuk tugas tertentu dan komputer menggunakan bahasa mesin berupa kode biner.</a:t>
            </a:r>
          </a:p>
        </p:txBody>
      </p:sp>
      <p:sp>
        <p:nvSpPr>
          <p:cNvPr id="10" name="TextBox 9"/>
          <p:cNvSpPr txBox="1"/>
          <p:nvPr/>
        </p:nvSpPr>
        <p:spPr>
          <a:xfrm>
            <a:off x="749808" y="3877056"/>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1" name="TextBox 10"/>
          <p:cNvSpPr txBox="1"/>
          <p:nvPr/>
        </p:nvSpPr>
        <p:spPr>
          <a:xfrm>
            <a:off x="1078992" y="3858768"/>
            <a:ext cx="10104120" cy="713232"/>
          </a:xfrm>
          <a:prstGeom prst="rect">
            <a:avLst/>
          </a:prstGeom>
          <a:noFill/>
        </p:spPr>
        <p:txBody>
          <a:bodyPr wrap="square">
            <a:spAutoFit/>
          </a:bodyPr>
          <a:lstStyle/>
          <a:p>
            <a:pPr>
              <a:defRPr sz="1270" b="0">
                <a:solidFill>
                  <a:srgbClr val="F8F7FA"/>
                </a:solidFill>
                <a:latin typeface="Aptos"/>
              </a:defRPr>
            </a:pPr>
            <a:r>
              <a:t>Colossus yang diselesaikan Inggris pada 1943 digunakan untuk memecahkan kode rahasia. ENIAC yang dibangun pada 1946 merupakan komputer serbaguna dengan 18.000 tabung vakum dan konsumsi daya yang sangat besar.</a:t>
            </a:r>
          </a:p>
        </p:txBody>
      </p:sp>
      <p:sp>
        <p:nvSpPr>
          <p:cNvPr id="12" name="TextBox 11"/>
          <p:cNvSpPr txBox="1"/>
          <p:nvPr/>
        </p:nvSpPr>
        <p:spPr>
          <a:xfrm>
            <a:off x="749808" y="4773168"/>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3" name="TextBox 12"/>
          <p:cNvSpPr txBox="1"/>
          <p:nvPr/>
        </p:nvSpPr>
        <p:spPr>
          <a:xfrm>
            <a:off x="1078992" y="4754880"/>
            <a:ext cx="10104120" cy="713232"/>
          </a:xfrm>
          <a:prstGeom prst="rect">
            <a:avLst/>
          </a:prstGeom>
          <a:noFill/>
        </p:spPr>
        <p:txBody>
          <a:bodyPr wrap="square">
            <a:spAutoFit/>
          </a:bodyPr>
          <a:lstStyle/>
          <a:p>
            <a:pPr>
              <a:defRPr sz="1270" b="0">
                <a:solidFill>
                  <a:srgbClr val="F8F7FA"/>
                </a:solidFill>
                <a:latin typeface="Aptos"/>
              </a:defRPr>
            </a:pPr>
            <a:r>
              <a:t>Contoh lain adalah EDVAC yang dirancang pada 1945 dengan memori untuk menampung program dan data, serta UNIVAC I pada 1951 yang menjadi komputer komersial pertama yang memanfaatkan model arsitektur von Neumann.</a:t>
            </a:r>
          </a:p>
        </p:txBody>
      </p:sp>
      <p:sp>
        <p:nvSpPr>
          <p:cNvPr id="14" name="Rounded Rectangle 13"/>
          <p:cNvSpPr/>
          <p:nvPr/>
        </p:nvSpPr>
        <p:spPr>
          <a:xfrm>
            <a:off x="640080" y="5989320"/>
            <a:ext cx="10881360" cy="438912"/>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089904"/>
            <a:ext cx="10469880" cy="228600"/>
          </a:xfrm>
          <a:prstGeom prst="rect">
            <a:avLst/>
          </a:prstGeom>
          <a:noFill/>
        </p:spPr>
        <p:txBody>
          <a:bodyPr wrap="square">
            <a:spAutoFit/>
          </a:bodyPr>
          <a:lstStyle/>
          <a:p>
            <a:pPr>
              <a:defRPr sz="1050" b="0">
                <a:solidFill>
                  <a:srgbClr val="CDCCD7"/>
                </a:solidFill>
                <a:latin typeface="Aptos"/>
              </a:defRPr>
            </a:pPr>
            <a:r>
              <a:t>Inti ciri: tabung vakum, ukuran sangat besar, bahasa mesin, dan penggunaan yang masih sangat khusus.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6400800" cy="502920"/>
          </a:xfrm>
          <a:prstGeom prst="rect">
            <a:avLst/>
          </a:prstGeom>
          <a:noFill/>
        </p:spPr>
        <p:txBody>
          <a:bodyPr wrap="square">
            <a:spAutoFit/>
          </a:bodyPr>
          <a:lstStyle/>
          <a:p>
            <a:pPr>
              <a:defRPr sz="2700" b="1">
                <a:solidFill>
                  <a:srgbClr val="F8F7FA"/>
                </a:solidFill>
                <a:latin typeface="Aptos"/>
              </a:defRPr>
            </a:pPr>
            <a:r>
              <a:t>GENERASI 2</a:t>
            </a:r>
          </a:p>
        </p:txBody>
      </p:sp>
      <p:sp>
        <p:nvSpPr>
          <p:cNvPr id="3" name="TextBox 2"/>
          <p:cNvSpPr txBox="1"/>
          <p:nvPr/>
        </p:nvSpPr>
        <p:spPr>
          <a:xfrm>
            <a:off x="658368" y="896112"/>
            <a:ext cx="2743200" cy="320040"/>
          </a:xfrm>
          <a:prstGeom prst="rect">
            <a:avLst/>
          </a:prstGeom>
          <a:noFill/>
        </p:spPr>
        <p:txBody>
          <a:bodyPr wrap="square">
            <a:spAutoFit/>
          </a:bodyPr>
          <a:lstStyle/>
          <a:p>
            <a:pPr>
              <a:defRPr sz="1200" b="1">
                <a:solidFill>
                  <a:srgbClr val="E1A8C4"/>
                </a:solidFill>
                <a:latin typeface="Aptos"/>
              </a:defRPr>
            </a:pPr>
            <a:r>
              <a:t>±1956–1963</a:t>
            </a:r>
          </a:p>
        </p:txBody>
      </p:sp>
      <p:sp>
        <p:nvSpPr>
          <p:cNvPr id="4" name="Rounded Rectangle 3"/>
          <p:cNvSpPr/>
          <p:nvPr/>
        </p:nvSpPr>
        <p:spPr>
          <a:xfrm>
            <a:off x="640080" y="1325880"/>
            <a:ext cx="10881360" cy="566928"/>
          </a:xfrm>
          <a:prstGeom prst="roundRect">
            <a:avLst/>
          </a:prstGeom>
          <a:solidFill>
            <a:srgbClr val="715B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72184"/>
            <a:ext cx="10241280" cy="292608"/>
          </a:xfrm>
          <a:prstGeom prst="rect">
            <a:avLst/>
          </a:prstGeom>
          <a:noFill/>
        </p:spPr>
        <p:txBody>
          <a:bodyPr wrap="square">
            <a:spAutoFit/>
          </a:bodyPr>
          <a:lstStyle/>
          <a:p>
            <a:pPr>
              <a:defRPr sz="1600" b="1">
                <a:solidFill>
                  <a:srgbClr val="F8F7FA"/>
                </a:solidFill>
                <a:latin typeface="Aptos"/>
              </a:defRPr>
            </a:pPr>
            <a:r>
              <a:t>TRANSISTOR &amp; MEMORI INTI MAGNETIK</a:t>
            </a:r>
          </a:p>
        </p:txBody>
      </p:sp>
      <p:sp>
        <p:nvSpPr>
          <p:cNvPr id="6" name="TextBox 5"/>
          <p:cNvSpPr txBox="1"/>
          <p:nvPr/>
        </p:nvSpPr>
        <p:spPr>
          <a:xfrm>
            <a:off x="749808" y="2084831"/>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7" name="TextBox 6"/>
          <p:cNvSpPr txBox="1"/>
          <p:nvPr/>
        </p:nvSpPr>
        <p:spPr>
          <a:xfrm>
            <a:off x="1078992" y="2066543"/>
            <a:ext cx="10104120" cy="713232"/>
          </a:xfrm>
          <a:prstGeom prst="rect">
            <a:avLst/>
          </a:prstGeom>
          <a:noFill/>
        </p:spPr>
        <p:txBody>
          <a:bodyPr wrap="square">
            <a:spAutoFit/>
          </a:bodyPr>
          <a:lstStyle/>
          <a:p>
            <a:pPr>
              <a:defRPr sz="1270" b="0">
                <a:solidFill>
                  <a:srgbClr val="F8F7FA"/>
                </a:solidFill>
                <a:latin typeface="Aptos"/>
              </a:defRPr>
            </a:pPr>
            <a:r>
              <a:t>Transistor menggantikan tabung vakum sehingga ukuran mesin elektronik dapat berkurang secara drastis.</a:t>
            </a:r>
          </a:p>
        </p:txBody>
      </p:sp>
      <p:sp>
        <p:nvSpPr>
          <p:cNvPr id="8" name="TextBox 7"/>
          <p:cNvSpPr txBox="1"/>
          <p:nvPr/>
        </p:nvSpPr>
        <p:spPr>
          <a:xfrm>
            <a:off x="749808" y="2980944"/>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9" name="TextBox 8"/>
          <p:cNvSpPr txBox="1"/>
          <p:nvPr/>
        </p:nvSpPr>
        <p:spPr>
          <a:xfrm>
            <a:off x="1078992" y="2962656"/>
            <a:ext cx="10104120" cy="713232"/>
          </a:xfrm>
          <a:prstGeom prst="rect">
            <a:avLst/>
          </a:prstGeom>
          <a:noFill/>
        </p:spPr>
        <p:txBody>
          <a:bodyPr wrap="square">
            <a:spAutoFit/>
          </a:bodyPr>
          <a:lstStyle/>
          <a:p>
            <a:pPr>
              <a:defRPr sz="1270" b="0">
                <a:solidFill>
                  <a:srgbClr val="F8F7FA"/>
                </a:solidFill>
                <a:latin typeface="Aptos"/>
              </a:defRPr>
            </a:pPr>
            <a:r>
              <a:t>Transistor mulai digunakan di dalam komputer pada 1956. Perkembangan memori inti-magnetik membantu menghasilkan komputer yang lebih kecil, lebih cepat, lebih dapat diandalkan, dan lebih hemat energi.</a:t>
            </a:r>
          </a:p>
        </p:txBody>
      </p:sp>
      <p:sp>
        <p:nvSpPr>
          <p:cNvPr id="10" name="TextBox 9"/>
          <p:cNvSpPr txBox="1"/>
          <p:nvPr/>
        </p:nvSpPr>
        <p:spPr>
          <a:xfrm>
            <a:off x="749808" y="3877056"/>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1" name="TextBox 10"/>
          <p:cNvSpPr txBox="1"/>
          <p:nvPr/>
        </p:nvSpPr>
        <p:spPr>
          <a:xfrm>
            <a:off x="1078992" y="3858768"/>
            <a:ext cx="10104120" cy="713232"/>
          </a:xfrm>
          <a:prstGeom prst="rect">
            <a:avLst/>
          </a:prstGeom>
          <a:noFill/>
        </p:spPr>
        <p:txBody>
          <a:bodyPr wrap="square">
            <a:spAutoFit/>
          </a:bodyPr>
          <a:lstStyle/>
          <a:p>
            <a:pPr>
              <a:defRPr sz="1270" b="0">
                <a:solidFill>
                  <a:srgbClr val="F8F7FA"/>
                </a:solidFill>
                <a:latin typeface="Aptos"/>
              </a:defRPr>
            </a:pPr>
            <a:r>
              <a:t>Komputer generasi kedua mulai digunakan dalam bisnis, universitas, dan pemerintahan. Komputer pada masa ini mulai memiliki pencetak, penyimpanan, memori, sistem operasi, dan program komputer.</a:t>
            </a:r>
          </a:p>
        </p:txBody>
      </p:sp>
      <p:sp>
        <p:nvSpPr>
          <p:cNvPr id="12" name="TextBox 11"/>
          <p:cNvSpPr txBox="1"/>
          <p:nvPr/>
        </p:nvSpPr>
        <p:spPr>
          <a:xfrm>
            <a:off x="749808" y="4773168"/>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3" name="TextBox 12"/>
          <p:cNvSpPr txBox="1"/>
          <p:nvPr/>
        </p:nvSpPr>
        <p:spPr>
          <a:xfrm>
            <a:off x="1078992" y="4754880"/>
            <a:ext cx="10104120" cy="713232"/>
          </a:xfrm>
          <a:prstGeom prst="rect">
            <a:avLst/>
          </a:prstGeom>
          <a:noFill/>
        </p:spPr>
        <p:txBody>
          <a:bodyPr wrap="square">
            <a:spAutoFit/>
          </a:bodyPr>
          <a:lstStyle/>
          <a:p>
            <a:pPr>
              <a:defRPr sz="1270" b="0">
                <a:solidFill>
                  <a:srgbClr val="F8F7FA"/>
                </a:solidFill>
                <a:latin typeface="Aptos"/>
              </a:defRPr>
            </a:pPr>
            <a:r>
              <a:t>Bahasa rakitan mulai menggantikan bahasa mesin. COBOL dan Fortran juga mulai umum digunakan sehingga pemrograman menjadi lebih mudah dipahami manusia. IBM 1401 menjadi salah satu contoh penting.</a:t>
            </a:r>
          </a:p>
        </p:txBody>
      </p:sp>
      <p:sp>
        <p:nvSpPr>
          <p:cNvPr id="14" name="Rounded Rectangle 13"/>
          <p:cNvSpPr/>
          <p:nvPr/>
        </p:nvSpPr>
        <p:spPr>
          <a:xfrm>
            <a:off x="640080" y="5989320"/>
            <a:ext cx="10881360" cy="438912"/>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089904"/>
            <a:ext cx="10469880" cy="228600"/>
          </a:xfrm>
          <a:prstGeom prst="rect">
            <a:avLst/>
          </a:prstGeom>
          <a:noFill/>
        </p:spPr>
        <p:txBody>
          <a:bodyPr wrap="square">
            <a:spAutoFit/>
          </a:bodyPr>
          <a:lstStyle/>
          <a:p>
            <a:pPr>
              <a:defRPr sz="1050" b="0">
                <a:solidFill>
                  <a:srgbClr val="CDCCD7"/>
                </a:solidFill>
                <a:latin typeface="Aptos"/>
              </a:defRPr>
            </a:pPr>
            <a:r>
              <a:t>Inti ciri: transistor, memori inti-magnetik, ukuran lebih kecil, lebih hemat energi, serta berkembangnya bahasa pemrograman.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6400800" cy="502920"/>
          </a:xfrm>
          <a:prstGeom prst="rect">
            <a:avLst/>
          </a:prstGeom>
          <a:noFill/>
        </p:spPr>
        <p:txBody>
          <a:bodyPr wrap="square">
            <a:spAutoFit/>
          </a:bodyPr>
          <a:lstStyle/>
          <a:p>
            <a:pPr>
              <a:defRPr sz="2700" b="1">
                <a:solidFill>
                  <a:srgbClr val="F8F7FA"/>
                </a:solidFill>
                <a:latin typeface="Aptos"/>
              </a:defRPr>
            </a:pPr>
            <a:r>
              <a:t>GENERASI 3</a:t>
            </a:r>
          </a:p>
        </p:txBody>
      </p:sp>
      <p:sp>
        <p:nvSpPr>
          <p:cNvPr id="3" name="TextBox 2"/>
          <p:cNvSpPr txBox="1"/>
          <p:nvPr/>
        </p:nvSpPr>
        <p:spPr>
          <a:xfrm>
            <a:off x="658368" y="896112"/>
            <a:ext cx="2743200" cy="320040"/>
          </a:xfrm>
          <a:prstGeom prst="rect">
            <a:avLst/>
          </a:prstGeom>
          <a:noFill/>
        </p:spPr>
        <p:txBody>
          <a:bodyPr wrap="square">
            <a:spAutoFit/>
          </a:bodyPr>
          <a:lstStyle/>
          <a:p>
            <a:pPr>
              <a:defRPr sz="1200" b="1">
                <a:solidFill>
                  <a:srgbClr val="E1A8C4"/>
                </a:solidFill>
                <a:latin typeface="Aptos"/>
              </a:defRPr>
            </a:pPr>
            <a:r>
              <a:t>±1964–1970-an</a:t>
            </a:r>
          </a:p>
        </p:txBody>
      </p:sp>
      <p:sp>
        <p:nvSpPr>
          <p:cNvPr id="4" name="Rounded Rectangle 3"/>
          <p:cNvSpPr/>
          <p:nvPr/>
        </p:nvSpPr>
        <p:spPr>
          <a:xfrm>
            <a:off x="640080" y="1325880"/>
            <a:ext cx="10881360" cy="566928"/>
          </a:xfrm>
          <a:prstGeom prst="roundRect">
            <a:avLst/>
          </a:prstGeom>
          <a:solidFill>
            <a:srgbClr val="715B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72184"/>
            <a:ext cx="10241280" cy="292608"/>
          </a:xfrm>
          <a:prstGeom prst="rect">
            <a:avLst/>
          </a:prstGeom>
          <a:noFill/>
        </p:spPr>
        <p:txBody>
          <a:bodyPr wrap="square">
            <a:spAutoFit/>
          </a:bodyPr>
          <a:lstStyle/>
          <a:p>
            <a:pPr>
              <a:defRPr sz="1600" b="1">
                <a:solidFill>
                  <a:srgbClr val="F8F7FA"/>
                </a:solidFill>
                <a:latin typeface="Aptos"/>
              </a:defRPr>
            </a:pPr>
            <a:r>
              <a:t>SIRKUIT TERPADU (IC)</a:t>
            </a:r>
          </a:p>
        </p:txBody>
      </p:sp>
      <p:sp>
        <p:nvSpPr>
          <p:cNvPr id="6" name="TextBox 5"/>
          <p:cNvSpPr txBox="1"/>
          <p:nvPr/>
        </p:nvSpPr>
        <p:spPr>
          <a:xfrm>
            <a:off x="749808" y="2084831"/>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7" name="TextBox 6"/>
          <p:cNvSpPr txBox="1"/>
          <p:nvPr/>
        </p:nvSpPr>
        <p:spPr>
          <a:xfrm>
            <a:off x="1078992" y="2066543"/>
            <a:ext cx="10104120" cy="713232"/>
          </a:xfrm>
          <a:prstGeom prst="rect">
            <a:avLst/>
          </a:prstGeom>
          <a:noFill/>
        </p:spPr>
        <p:txBody>
          <a:bodyPr wrap="square">
            <a:spAutoFit/>
          </a:bodyPr>
          <a:lstStyle/>
          <a:p>
            <a:pPr>
              <a:defRPr sz="1270" b="0">
                <a:solidFill>
                  <a:srgbClr val="F8F7FA"/>
                </a:solidFill>
                <a:latin typeface="Aptos"/>
              </a:defRPr>
            </a:pPr>
            <a:r>
              <a:t>Generasi ketiga dimulai ketika teknologi transistor berkembang menjadi sirkuit terpadu. Jack Kilby dari Texas Instruments mengembangkan sirkuit terpadu pada 1958.</a:t>
            </a:r>
          </a:p>
        </p:txBody>
      </p:sp>
      <p:sp>
        <p:nvSpPr>
          <p:cNvPr id="8" name="TextBox 7"/>
          <p:cNvSpPr txBox="1"/>
          <p:nvPr/>
        </p:nvSpPr>
        <p:spPr>
          <a:xfrm>
            <a:off x="749808" y="2980944"/>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9" name="TextBox 8"/>
          <p:cNvSpPr txBox="1"/>
          <p:nvPr/>
        </p:nvSpPr>
        <p:spPr>
          <a:xfrm>
            <a:off x="1078992" y="2962656"/>
            <a:ext cx="10104120" cy="713232"/>
          </a:xfrm>
          <a:prstGeom prst="rect">
            <a:avLst/>
          </a:prstGeom>
          <a:noFill/>
        </p:spPr>
        <p:txBody>
          <a:bodyPr wrap="square">
            <a:spAutoFit/>
          </a:bodyPr>
          <a:lstStyle/>
          <a:p>
            <a:pPr>
              <a:defRPr sz="1270" b="0">
                <a:solidFill>
                  <a:srgbClr val="F8F7FA"/>
                </a:solidFill>
                <a:latin typeface="Aptos"/>
              </a:defRPr>
            </a:pPr>
            <a:r>
              <a:t>IC menggabungkan beberapa komponen elektronik ke dalam sebuah piringan silikon kecil. Para ilmuwan kemudian berhasil memasukkan semakin banyak komponen ke dalam sebuah chip sehingga komputer dapat dibuat semakin kecil.</a:t>
            </a:r>
          </a:p>
        </p:txBody>
      </p:sp>
      <p:sp>
        <p:nvSpPr>
          <p:cNvPr id="10" name="TextBox 9"/>
          <p:cNvSpPr txBox="1"/>
          <p:nvPr/>
        </p:nvSpPr>
        <p:spPr>
          <a:xfrm>
            <a:off x="749808" y="3877056"/>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1" name="TextBox 10"/>
          <p:cNvSpPr txBox="1"/>
          <p:nvPr/>
        </p:nvSpPr>
        <p:spPr>
          <a:xfrm>
            <a:off x="1078992" y="3858768"/>
            <a:ext cx="10104120" cy="713232"/>
          </a:xfrm>
          <a:prstGeom prst="rect">
            <a:avLst/>
          </a:prstGeom>
          <a:noFill/>
        </p:spPr>
        <p:txBody>
          <a:bodyPr wrap="square">
            <a:spAutoFit/>
          </a:bodyPr>
          <a:lstStyle/>
          <a:p>
            <a:pPr>
              <a:defRPr sz="1270" b="0">
                <a:solidFill>
                  <a:srgbClr val="F8F7FA"/>
                </a:solidFill>
                <a:latin typeface="Aptos"/>
              </a:defRPr>
            </a:pPr>
            <a:r>
              <a:t>Salah satu inovasi penting adalah munculnya komputer mini. Generasi ini juga ditandai dengan penggunaan sistem operasi yang memungkinkan mesin menjalankan berbagai program secara lebih teratur.</a:t>
            </a:r>
          </a:p>
        </p:txBody>
      </p:sp>
      <p:sp>
        <p:nvSpPr>
          <p:cNvPr id="12" name="TextBox 11"/>
          <p:cNvSpPr txBox="1"/>
          <p:nvPr/>
        </p:nvSpPr>
        <p:spPr>
          <a:xfrm>
            <a:off x="749808" y="4773168"/>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3" name="TextBox 12"/>
          <p:cNvSpPr txBox="1"/>
          <p:nvPr/>
        </p:nvSpPr>
        <p:spPr>
          <a:xfrm>
            <a:off x="1078992" y="4754880"/>
            <a:ext cx="10104120" cy="713232"/>
          </a:xfrm>
          <a:prstGeom prst="rect">
            <a:avLst/>
          </a:prstGeom>
          <a:noFill/>
        </p:spPr>
        <p:txBody>
          <a:bodyPr wrap="square">
            <a:spAutoFit/>
          </a:bodyPr>
          <a:lstStyle/>
          <a:p>
            <a:pPr>
              <a:defRPr sz="1270" b="0">
                <a:solidFill>
                  <a:srgbClr val="F8F7FA"/>
                </a:solidFill>
                <a:latin typeface="Aptos"/>
              </a:defRPr>
            </a:pPr>
            <a:r>
              <a:t>Teknologi generasi ketiga digunakan dalam berbagai kebutuhan, termasuk Program Apollo. Contohnya adalah Apollo Guidance Computer, komputer PDP dan VAX. Pada masa ini juga berkembang sistem operasi yang berpengaruh, yaitu Unix.</a:t>
            </a:r>
          </a:p>
        </p:txBody>
      </p:sp>
      <p:sp>
        <p:nvSpPr>
          <p:cNvPr id="14" name="Rounded Rectangle 13"/>
          <p:cNvSpPr/>
          <p:nvPr/>
        </p:nvSpPr>
        <p:spPr>
          <a:xfrm>
            <a:off x="640080" y="5989320"/>
            <a:ext cx="10881360" cy="438912"/>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089904"/>
            <a:ext cx="10469880" cy="228600"/>
          </a:xfrm>
          <a:prstGeom prst="rect">
            <a:avLst/>
          </a:prstGeom>
          <a:noFill/>
        </p:spPr>
        <p:txBody>
          <a:bodyPr wrap="square">
            <a:spAutoFit/>
          </a:bodyPr>
          <a:lstStyle/>
          <a:p>
            <a:pPr>
              <a:defRPr sz="1050" b="0">
                <a:solidFill>
                  <a:srgbClr val="CDCCD7"/>
                </a:solidFill>
                <a:latin typeface="Aptos"/>
              </a:defRPr>
            </a:pPr>
            <a:r>
              <a:t>Inti ciri: sirkuit terpadu, komputer lebih kecil, komputer mini, dan sistem operasi.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6400800" cy="502920"/>
          </a:xfrm>
          <a:prstGeom prst="rect">
            <a:avLst/>
          </a:prstGeom>
          <a:noFill/>
        </p:spPr>
        <p:txBody>
          <a:bodyPr wrap="square">
            <a:spAutoFit/>
          </a:bodyPr>
          <a:lstStyle/>
          <a:p>
            <a:pPr>
              <a:defRPr sz="2700" b="1">
                <a:solidFill>
                  <a:srgbClr val="F8F7FA"/>
                </a:solidFill>
                <a:latin typeface="Aptos"/>
              </a:defRPr>
            </a:pPr>
            <a:r>
              <a:t>GENERASI 4</a:t>
            </a:r>
          </a:p>
        </p:txBody>
      </p:sp>
      <p:sp>
        <p:nvSpPr>
          <p:cNvPr id="3" name="TextBox 2"/>
          <p:cNvSpPr txBox="1"/>
          <p:nvPr/>
        </p:nvSpPr>
        <p:spPr>
          <a:xfrm>
            <a:off x="658368" y="896112"/>
            <a:ext cx="2743200" cy="320040"/>
          </a:xfrm>
          <a:prstGeom prst="rect">
            <a:avLst/>
          </a:prstGeom>
          <a:noFill/>
        </p:spPr>
        <p:txBody>
          <a:bodyPr wrap="square">
            <a:spAutoFit/>
          </a:bodyPr>
          <a:lstStyle/>
          <a:p>
            <a:pPr>
              <a:defRPr sz="1200" b="1">
                <a:solidFill>
                  <a:srgbClr val="E1A8C4"/>
                </a:solidFill>
                <a:latin typeface="Aptos"/>
              </a:defRPr>
            </a:pPr>
            <a:r>
              <a:t>1970-an–sekarang</a:t>
            </a:r>
          </a:p>
        </p:txBody>
      </p:sp>
      <p:sp>
        <p:nvSpPr>
          <p:cNvPr id="4" name="Rounded Rectangle 3"/>
          <p:cNvSpPr/>
          <p:nvPr/>
        </p:nvSpPr>
        <p:spPr>
          <a:xfrm>
            <a:off x="640080" y="1325880"/>
            <a:ext cx="10881360" cy="566928"/>
          </a:xfrm>
          <a:prstGeom prst="roundRect">
            <a:avLst/>
          </a:prstGeom>
          <a:solidFill>
            <a:srgbClr val="715B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72184"/>
            <a:ext cx="10241280" cy="292608"/>
          </a:xfrm>
          <a:prstGeom prst="rect">
            <a:avLst/>
          </a:prstGeom>
          <a:noFill/>
        </p:spPr>
        <p:txBody>
          <a:bodyPr wrap="square">
            <a:spAutoFit/>
          </a:bodyPr>
          <a:lstStyle/>
          <a:p>
            <a:pPr>
              <a:defRPr sz="1600" b="1">
                <a:solidFill>
                  <a:srgbClr val="F8F7FA"/>
                </a:solidFill>
                <a:latin typeface="Aptos"/>
              </a:defRPr>
            </a:pPr>
            <a:r>
              <a:t>LSI, VLSI, ULSI &amp; MIKROPROSESOR</a:t>
            </a:r>
          </a:p>
        </p:txBody>
      </p:sp>
      <p:sp>
        <p:nvSpPr>
          <p:cNvPr id="6" name="TextBox 5"/>
          <p:cNvSpPr txBox="1"/>
          <p:nvPr/>
        </p:nvSpPr>
        <p:spPr>
          <a:xfrm>
            <a:off x="749808" y="2084831"/>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7" name="TextBox 6"/>
          <p:cNvSpPr txBox="1"/>
          <p:nvPr/>
        </p:nvSpPr>
        <p:spPr>
          <a:xfrm>
            <a:off x="1078992" y="2066543"/>
            <a:ext cx="10104120" cy="713232"/>
          </a:xfrm>
          <a:prstGeom prst="rect">
            <a:avLst/>
          </a:prstGeom>
          <a:noFill/>
        </p:spPr>
        <p:txBody>
          <a:bodyPr wrap="square">
            <a:spAutoFit/>
          </a:bodyPr>
          <a:lstStyle/>
          <a:p>
            <a:pPr>
              <a:defRPr sz="1270" b="0">
                <a:solidFill>
                  <a:srgbClr val="F8F7FA"/>
                </a:solidFill>
                <a:latin typeface="Aptos"/>
              </a:defRPr>
            </a:pPr>
            <a:r>
              <a:t>Setelah IC berkembang, tujuan pengembangan komputer semakin diarahkan pada pengecilan ukuran sirkuit dan komponen elektronik. LSI dapat memuat ratusan komponen dalam satu chip, sedangkan VLSI pada 1980-an dapat memuat ribuan komponen.</a:t>
            </a:r>
          </a:p>
        </p:txBody>
      </p:sp>
      <p:sp>
        <p:nvSpPr>
          <p:cNvPr id="8" name="TextBox 7"/>
          <p:cNvSpPr txBox="1"/>
          <p:nvPr/>
        </p:nvSpPr>
        <p:spPr>
          <a:xfrm>
            <a:off x="749808" y="2980944"/>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9" name="TextBox 8"/>
          <p:cNvSpPr txBox="1"/>
          <p:nvPr/>
        </p:nvSpPr>
        <p:spPr>
          <a:xfrm>
            <a:off x="1078992" y="2962656"/>
            <a:ext cx="10104120" cy="713232"/>
          </a:xfrm>
          <a:prstGeom prst="rect">
            <a:avLst/>
          </a:prstGeom>
          <a:noFill/>
        </p:spPr>
        <p:txBody>
          <a:bodyPr wrap="square">
            <a:spAutoFit/>
          </a:bodyPr>
          <a:lstStyle/>
          <a:p>
            <a:pPr>
              <a:defRPr sz="1270" b="0">
                <a:solidFill>
                  <a:srgbClr val="F8F7FA"/>
                </a:solidFill>
                <a:latin typeface="Aptos"/>
              </a:defRPr>
            </a:pPr>
            <a:r>
              <a:t>ULSI kemudian meningkatkan jumlah komponen hingga jutaan. Kemampuan menempatkan banyak komponen dalam satu chip membantu menurunkan ukuran dan harga komputer, sekaligus meningkatkan kinerja, efisiensi, dan keterandalan.</a:t>
            </a:r>
          </a:p>
        </p:txBody>
      </p:sp>
      <p:sp>
        <p:nvSpPr>
          <p:cNvPr id="10" name="TextBox 9"/>
          <p:cNvSpPr txBox="1"/>
          <p:nvPr/>
        </p:nvSpPr>
        <p:spPr>
          <a:xfrm>
            <a:off x="749808" y="3877056"/>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1" name="TextBox 10"/>
          <p:cNvSpPr txBox="1"/>
          <p:nvPr/>
        </p:nvSpPr>
        <p:spPr>
          <a:xfrm>
            <a:off x="1078992" y="3858768"/>
            <a:ext cx="10104120" cy="713232"/>
          </a:xfrm>
          <a:prstGeom prst="rect">
            <a:avLst/>
          </a:prstGeom>
          <a:noFill/>
        </p:spPr>
        <p:txBody>
          <a:bodyPr wrap="square">
            <a:spAutoFit/>
          </a:bodyPr>
          <a:lstStyle/>
          <a:p>
            <a:pPr>
              <a:defRPr sz="1270" b="0">
                <a:solidFill>
                  <a:srgbClr val="F8F7FA"/>
                </a:solidFill>
                <a:latin typeface="Aptos"/>
              </a:defRPr>
            </a:pPr>
            <a:r>
              <a:t>Intel 4004 yang dibuat pada 1971 menjadi tonggak penting perkembangan mikroprosesor karena memungkinkan komponen utama komputer ditempatkan dalam sebuah chip kecil. Mikroprosesor kemudian digunakan dalam berbagai perangkat.</a:t>
            </a:r>
          </a:p>
        </p:txBody>
      </p:sp>
      <p:sp>
        <p:nvSpPr>
          <p:cNvPr id="12" name="TextBox 11"/>
          <p:cNvSpPr txBox="1"/>
          <p:nvPr/>
        </p:nvSpPr>
        <p:spPr>
          <a:xfrm>
            <a:off x="749808" y="4773168"/>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3" name="TextBox 12"/>
          <p:cNvSpPr txBox="1"/>
          <p:nvPr/>
        </p:nvSpPr>
        <p:spPr>
          <a:xfrm>
            <a:off x="1078992" y="4754880"/>
            <a:ext cx="10104120" cy="713232"/>
          </a:xfrm>
          <a:prstGeom prst="rect">
            <a:avLst/>
          </a:prstGeom>
          <a:noFill/>
        </p:spPr>
        <p:txBody>
          <a:bodyPr wrap="square">
            <a:spAutoFit/>
          </a:bodyPr>
          <a:lstStyle/>
          <a:p>
            <a:pPr>
              <a:defRPr sz="1270" b="0">
                <a:solidFill>
                  <a:srgbClr val="F8F7FA"/>
                </a:solidFill>
                <a:latin typeface="Aptos"/>
              </a:defRPr>
            </a:pPr>
            <a:r>
              <a:t>Perkembangan tersebut membuat komputer semakin dekat dengan masyarakat umum. IBM memperkenalkan PC pada 1981, sementara Apple Macintosh dikenal karena penggunaan antarmuka grafis dan mouse. Komputer terus berkembang dari desktop menjadi laptop dan perangkat genggam.</a:t>
            </a:r>
          </a:p>
        </p:txBody>
      </p:sp>
      <p:sp>
        <p:nvSpPr>
          <p:cNvPr id="14" name="Rounded Rectangle 13"/>
          <p:cNvSpPr/>
          <p:nvPr/>
        </p:nvSpPr>
        <p:spPr>
          <a:xfrm>
            <a:off x="640080" y="5989320"/>
            <a:ext cx="10881360" cy="438912"/>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089904"/>
            <a:ext cx="10469880" cy="228600"/>
          </a:xfrm>
          <a:prstGeom prst="rect">
            <a:avLst/>
          </a:prstGeom>
          <a:noFill/>
        </p:spPr>
        <p:txBody>
          <a:bodyPr wrap="square">
            <a:spAutoFit/>
          </a:bodyPr>
          <a:lstStyle/>
          <a:p>
            <a:pPr>
              <a:defRPr sz="1050" b="0">
                <a:solidFill>
                  <a:srgbClr val="CDCCD7"/>
                </a:solidFill>
                <a:latin typeface="Aptos"/>
              </a:defRPr>
            </a:pPr>
            <a:r>
              <a:t>Inti ciri: integrasi chip semakin tinggi, mikroprosesor, komputer pribadi, laptop, perangkat genggam, dan jaringan komputer.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365760"/>
            <a:ext cx="6400800" cy="502920"/>
          </a:xfrm>
          <a:prstGeom prst="rect">
            <a:avLst/>
          </a:prstGeom>
          <a:noFill/>
        </p:spPr>
        <p:txBody>
          <a:bodyPr wrap="square">
            <a:spAutoFit/>
          </a:bodyPr>
          <a:lstStyle/>
          <a:p>
            <a:pPr>
              <a:defRPr sz="2700" b="1">
                <a:solidFill>
                  <a:srgbClr val="F8F7FA"/>
                </a:solidFill>
                <a:latin typeface="Aptos"/>
              </a:defRPr>
            </a:pPr>
            <a:r>
              <a:t>GENERASI 5</a:t>
            </a:r>
          </a:p>
        </p:txBody>
      </p:sp>
      <p:sp>
        <p:nvSpPr>
          <p:cNvPr id="3" name="TextBox 2"/>
          <p:cNvSpPr txBox="1"/>
          <p:nvPr/>
        </p:nvSpPr>
        <p:spPr>
          <a:xfrm>
            <a:off x="658368" y="896112"/>
            <a:ext cx="2743200" cy="320040"/>
          </a:xfrm>
          <a:prstGeom prst="rect">
            <a:avLst/>
          </a:prstGeom>
          <a:noFill/>
        </p:spPr>
        <p:txBody>
          <a:bodyPr wrap="square">
            <a:spAutoFit/>
          </a:bodyPr>
          <a:lstStyle/>
          <a:p>
            <a:pPr>
              <a:defRPr sz="1200" b="1">
                <a:solidFill>
                  <a:srgbClr val="E1A8C4"/>
                </a:solidFill>
                <a:latin typeface="Aptos"/>
              </a:defRPr>
            </a:pPr>
            <a:r>
              <a:t>MASA KINI</a:t>
            </a:r>
          </a:p>
        </p:txBody>
      </p:sp>
      <p:sp>
        <p:nvSpPr>
          <p:cNvPr id="4" name="Rounded Rectangle 3"/>
          <p:cNvSpPr/>
          <p:nvPr/>
        </p:nvSpPr>
        <p:spPr>
          <a:xfrm>
            <a:off x="640080" y="1325880"/>
            <a:ext cx="10881360" cy="566928"/>
          </a:xfrm>
          <a:prstGeom prst="roundRect">
            <a:avLst/>
          </a:prstGeom>
          <a:solidFill>
            <a:srgbClr val="715B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72184"/>
            <a:ext cx="10241280" cy="292608"/>
          </a:xfrm>
          <a:prstGeom prst="rect">
            <a:avLst/>
          </a:prstGeom>
          <a:noFill/>
        </p:spPr>
        <p:txBody>
          <a:bodyPr wrap="square">
            <a:spAutoFit/>
          </a:bodyPr>
          <a:lstStyle/>
          <a:p>
            <a:pPr>
              <a:defRPr sz="1600" b="1">
                <a:solidFill>
                  <a:srgbClr val="F8F7FA"/>
                </a:solidFill>
                <a:latin typeface="Aptos"/>
              </a:defRPr>
            </a:pPr>
            <a:r>
              <a:t>KECERDASAN BUATAN, PEMROSESAN PARALEL &amp; SUPERKONDUKTOR</a:t>
            </a:r>
          </a:p>
        </p:txBody>
      </p:sp>
      <p:sp>
        <p:nvSpPr>
          <p:cNvPr id="6" name="TextBox 5"/>
          <p:cNvSpPr txBox="1"/>
          <p:nvPr/>
        </p:nvSpPr>
        <p:spPr>
          <a:xfrm>
            <a:off x="749808" y="2084831"/>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7" name="TextBox 6"/>
          <p:cNvSpPr txBox="1"/>
          <p:nvPr/>
        </p:nvSpPr>
        <p:spPr>
          <a:xfrm>
            <a:off x="1078992" y="2066543"/>
            <a:ext cx="10104120" cy="713232"/>
          </a:xfrm>
          <a:prstGeom prst="rect">
            <a:avLst/>
          </a:prstGeom>
          <a:noFill/>
        </p:spPr>
        <p:txBody>
          <a:bodyPr wrap="square">
            <a:spAutoFit/>
          </a:bodyPr>
          <a:lstStyle/>
          <a:p>
            <a:pPr>
              <a:defRPr sz="1270" b="0">
                <a:solidFill>
                  <a:srgbClr val="F8F7FA"/>
                </a:solidFill>
                <a:latin typeface="Aptos"/>
              </a:defRPr>
            </a:pPr>
            <a:r>
              <a:t>Menurut materi sumber, mendefinisikan komputer generasi kelima cukup sulit karena tahap ini masih relatif muda dan terus berkembang. Salah satu fokus yang dibahas adalah penggunaan kecerdasan buatan atau artificial intelligence (AI).</a:t>
            </a:r>
          </a:p>
        </p:txBody>
      </p:sp>
      <p:sp>
        <p:nvSpPr>
          <p:cNvPr id="8" name="TextBox 7"/>
          <p:cNvSpPr txBox="1"/>
          <p:nvPr/>
        </p:nvSpPr>
        <p:spPr>
          <a:xfrm>
            <a:off x="749808" y="2980944"/>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9" name="TextBox 8"/>
          <p:cNvSpPr txBox="1"/>
          <p:nvPr/>
        </p:nvSpPr>
        <p:spPr>
          <a:xfrm>
            <a:off x="1078992" y="2962656"/>
            <a:ext cx="10104120" cy="713232"/>
          </a:xfrm>
          <a:prstGeom prst="rect">
            <a:avLst/>
          </a:prstGeom>
          <a:noFill/>
        </p:spPr>
        <p:txBody>
          <a:bodyPr wrap="square">
            <a:spAutoFit/>
          </a:bodyPr>
          <a:lstStyle/>
          <a:p>
            <a:pPr>
              <a:defRPr sz="1270" b="0">
                <a:solidFill>
                  <a:srgbClr val="F8F7FA"/>
                </a:solidFill>
                <a:latin typeface="Aptos"/>
              </a:defRPr>
            </a:pPr>
            <a:r>
              <a:t>Konsep komputer generasi kelima menggambarkan komputer yang dapat melakukan fungsi yang lebih dekat dengan kemampuan manusia, seperti menerima instruksi secara lisan, memproses masukan visual, dan membantu penerjemahan bahasa.</a:t>
            </a:r>
          </a:p>
        </p:txBody>
      </p:sp>
      <p:sp>
        <p:nvSpPr>
          <p:cNvPr id="10" name="TextBox 9"/>
          <p:cNvSpPr txBox="1"/>
          <p:nvPr/>
        </p:nvSpPr>
        <p:spPr>
          <a:xfrm>
            <a:off x="749808" y="3877056"/>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1" name="TextBox 10"/>
          <p:cNvSpPr txBox="1"/>
          <p:nvPr/>
        </p:nvSpPr>
        <p:spPr>
          <a:xfrm>
            <a:off x="1078992" y="3858768"/>
            <a:ext cx="10104120" cy="713232"/>
          </a:xfrm>
          <a:prstGeom prst="rect">
            <a:avLst/>
          </a:prstGeom>
          <a:noFill/>
        </p:spPr>
        <p:txBody>
          <a:bodyPr wrap="square">
            <a:spAutoFit/>
          </a:bodyPr>
          <a:lstStyle/>
          <a:p>
            <a:pPr>
              <a:defRPr sz="1270" b="0">
                <a:solidFill>
                  <a:srgbClr val="F8F7FA"/>
                </a:solidFill>
                <a:latin typeface="Aptos"/>
              </a:defRPr>
            </a:pPr>
            <a:r>
              <a:t>Perkembangan lain yang dibahas adalah pemrosesan paralel. Model ini memungkinkan banyak CPU bekerja secara serempak sehingga proses komputasi dapat dilakukan secara lebih terkoordinasi.</a:t>
            </a:r>
          </a:p>
        </p:txBody>
      </p:sp>
      <p:sp>
        <p:nvSpPr>
          <p:cNvPr id="12" name="TextBox 11"/>
          <p:cNvSpPr txBox="1"/>
          <p:nvPr/>
        </p:nvSpPr>
        <p:spPr>
          <a:xfrm>
            <a:off x="749808" y="4773168"/>
            <a:ext cx="274320" cy="274320"/>
          </a:xfrm>
          <a:prstGeom prst="rect">
            <a:avLst/>
          </a:prstGeom>
          <a:noFill/>
        </p:spPr>
        <p:txBody>
          <a:bodyPr wrap="square">
            <a:spAutoFit/>
          </a:bodyPr>
          <a:lstStyle/>
          <a:p>
            <a:pPr>
              <a:defRPr sz="1700" b="1">
                <a:solidFill>
                  <a:srgbClr val="E1A8C4"/>
                </a:solidFill>
                <a:latin typeface="Aptos"/>
              </a:defRPr>
            </a:pPr>
            <a:r>
              <a:t>•</a:t>
            </a:r>
          </a:p>
        </p:txBody>
      </p:sp>
      <p:sp>
        <p:nvSpPr>
          <p:cNvPr id="13" name="TextBox 12"/>
          <p:cNvSpPr txBox="1"/>
          <p:nvPr/>
        </p:nvSpPr>
        <p:spPr>
          <a:xfrm>
            <a:off x="1078992" y="4754880"/>
            <a:ext cx="10104120" cy="713232"/>
          </a:xfrm>
          <a:prstGeom prst="rect">
            <a:avLst/>
          </a:prstGeom>
          <a:noFill/>
        </p:spPr>
        <p:txBody>
          <a:bodyPr wrap="square">
            <a:spAutoFit/>
          </a:bodyPr>
          <a:lstStyle/>
          <a:p>
            <a:pPr>
              <a:defRPr sz="1270" b="0">
                <a:solidFill>
                  <a:srgbClr val="F8F7FA"/>
                </a:solidFill>
                <a:latin typeface="Aptos"/>
              </a:defRPr>
            </a:pPr>
            <a:r>
              <a:t>Teknologi superkonduktor juga disebut sebagai salah satu perkembangan yang berpotensi mempercepat aliran informasi. Sumber turut membahas proyek Jepang ICOT yang berkaitan dengan gagasan komputer generasi kelima.</a:t>
            </a:r>
          </a:p>
        </p:txBody>
      </p:sp>
      <p:sp>
        <p:nvSpPr>
          <p:cNvPr id="14" name="Rounded Rectangle 13"/>
          <p:cNvSpPr/>
          <p:nvPr/>
        </p:nvSpPr>
        <p:spPr>
          <a:xfrm>
            <a:off x="640080" y="5989320"/>
            <a:ext cx="10881360" cy="438912"/>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089904"/>
            <a:ext cx="10469880" cy="228600"/>
          </a:xfrm>
          <a:prstGeom prst="rect">
            <a:avLst/>
          </a:prstGeom>
          <a:noFill/>
        </p:spPr>
        <p:txBody>
          <a:bodyPr wrap="square">
            <a:spAutoFit/>
          </a:bodyPr>
          <a:lstStyle/>
          <a:p>
            <a:pPr>
              <a:defRPr sz="1050" b="0">
                <a:solidFill>
                  <a:srgbClr val="CDCCD7"/>
                </a:solidFill>
                <a:latin typeface="Aptos"/>
              </a:defRPr>
            </a:pPr>
            <a:r>
              <a:t>Inti ciri: AI, pemrosesan paralel, dan teknologi komputasi yang terus berkembang.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1D34"/>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5486400" cy="548640"/>
          </a:xfrm>
          <a:prstGeom prst="rect">
            <a:avLst/>
          </a:prstGeom>
          <a:noFill/>
        </p:spPr>
        <p:txBody>
          <a:bodyPr wrap="square">
            <a:spAutoFit/>
          </a:bodyPr>
          <a:lstStyle/>
          <a:p>
            <a:pPr>
              <a:defRPr sz="2800" b="1">
                <a:solidFill>
                  <a:srgbClr val="F8F7FA"/>
                </a:solidFill>
                <a:latin typeface="Aptos"/>
              </a:defRPr>
            </a:pPr>
            <a:r>
              <a:t>KESIMPULAN</a:t>
            </a:r>
          </a:p>
        </p:txBody>
      </p:sp>
      <p:sp>
        <p:nvSpPr>
          <p:cNvPr id="3" name="TextBox 2"/>
          <p:cNvSpPr txBox="1"/>
          <p:nvPr/>
        </p:nvSpPr>
        <p:spPr>
          <a:xfrm>
            <a:off x="658368" y="960120"/>
            <a:ext cx="9601200" cy="411480"/>
          </a:xfrm>
          <a:prstGeom prst="rect">
            <a:avLst/>
          </a:prstGeom>
          <a:noFill/>
        </p:spPr>
        <p:txBody>
          <a:bodyPr wrap="square">
            <a:spAutoFit/>
          </a:bodyPr>
          <a:lstStyle/>
          <a:p>
            <a:pPr>
              <a:defRPr sz="1400" b="0">
                <a:solidFill>
                  <a:srgbClr val="CDCCD7"/>
                </a:solidFill>
                <a:latin typeface="Aptos"/>
              </a:defRPr>
            </a:pPr>
            <a:r>
              <a:t>Perkembangan komputer menunjukkan perubahan yang bertahap dan saling berkaitan.</a:t>
            </a:r>
          </a:p>
        </p:txBody>
      </p:sp>
      <p:sp>
        <p:nvSpPr>
          <p:cNvPr id="4" name="Rounded Rectangle 3"/>
          <p:cNvSpPr/>
          <p:nvPr/>
        </p:nvSpPr>
        <p:spPr>
          <a:xfrm>
            <a:off x="685800" y="1508760"/>
            <a:ext cx="5166360" cy="11430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73351"/>
            <a:ext cx="457200" cy="274320"/>
          </a:xfrm>
          <a:prstGeom prst="rect">
            <a:avLst/>
          </a:prstGeom>
          <a:noFill/>
        </p:spPr>
        <p:txBody>
          <a:bodyPr wrap="square">
            <a:spAutoFit/>
          </a:bodyPr>
          <a:lstStyle/>
          <a:p>
            <a:pPr>
              <a:defRPr sz="1300" b="1">
                <a:solidFill>
                  <a:srgbClr val="E1A8C4"/>
                </a:solidFill>
                <a:latin typeface="Aptos"/>
              </a:defRPr>
            </a:pPr>
            <a:r>
              <a:t>01</a:t>
            </a:r>
          </a:p>
        </p:txBody>
      </p:sp>
      <p:sp>
        <p:nvSpPr>
          <p:cNvPr id="6" name="TextBox 5"/>
          <p:cNvSpPr txBox="1"/>
          <p:nvPr/>
        </p:nvSpPr>
        <p:spPr>
          <a:xfrm>
            <a:off x="1463040" y="1636776"/>
            <a:ext cx="4114800" cy="320040"/>
          </a:xfrm>
          <a:prstGeom prst="rect">
            <a:avLst/>
          </a:prstGeom>
          <a:noFill/>
        </p:spPr>
        <p:txBody>
          <a:bodyPr wrap="square">
            <a:spAutoFit/>
          </a:bodyPr>
          <a:lstStyle/>
          <a:p>
            <a:pPr>
              <a:defRPr sz="1500" b="1">
                <a:solidFill>
                  <a:srgbClr val="F8F7FA"/>
                </a:solidFill>
                <a:latin typeface="Aptos"/>
              </a:defRPr>
            </a:pPr>
            <a:r>
              <a:t>Ukuran semakin kecil</a:t>
            </a:r>
          </a:p>
        </p:txBody>
      </p:sp>
      <p:sp>
        <p:nvSpPr>
          <p:cNvPr id="7" name="TextBox 6"/>
          <p:cNvSpPr txBox="1"/>
          <p:nvPr/>
        </p:nvSpPr>
        <p:spPr>
          <a:xfrm>
            <a:off x="1463040" y="2011680"/>
            <a:ext cx="4069080" cy="475488"/>
          </a:xfrm>
          <a:prstGeom prst="rect">
            <a:avLst/>
          </a:prstGeom>
          <a:noFill/>
        </p:spPr>
        <p:txBody>
          <a:bodyPr wrap="square">
            <a:spAutoFit/>
          </a:bodyPr>
          <a:lstStyle/>
          <a:p>
            <a:pPr>
              <a:defRPr sz="1050" b="0">
                <a:solidFill>
                  <a:srgbClr val="CDCCD7"/>
                </a:solidFill>
                <a:latin typeface="Aptos"/>
              </a:defRPr>
            </a:pPr>
            <a:r>
              <a:t>Komputer berubah dari mesin berukuran sangat besar menjadi perangkat yang lebih ringkas.</a:t>
            </a:r>
          </a:p>
        </p:txBody>
      </p:sp>
      <p:sp>
        <p:nvSpPr>
          <p:cNvPr id="8" name="Rounded Rectangle 7"/>
          <p:cNvSpPr/>
          <p:nvPr/>
        </p:nvSpPr>
        <p:spPr>
          <a:xfrm>
            <a:off x="6217920" y="1508760"/>
            <a:ext cx="5166360" cy="11430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73351"/>
            <a:ext cx="457200" cy="274320"/>
          </a:xfrm>
          <a:prstGeom prst="rect">
            <a:avLst/>
          </a:prstGeom>
          <a:noFill/>
        </p:spPr>
        <p:txBody>
          <a:bodyPr wrap="square">
            <a:spAutoFit/>
          </a:bodyPr>
          <a:lstStyle/>
          <a:p>
            <a:pPr>
              <a:defRPr sz="1300" b="1">
                <a:solidFill>
                  <a:srgbClr val="E1A8C4"/>
                </a:solidFill>
                <a:latin typeface="Aptos"/>
              </a:defRPr>
            </a:pPr>
            <a:r>
              <a:t>02</a:t>
            </a:r>
          </a:p>
        </p:txBody>
      </p:sp>
      <p:sp>
        <p:nvSpPr>
          <p:cNvPr id="10" name="TextBox 9"/>
          <p:cNvSpPr txBox="1"/>
          <p:nvPr/>
        </p:nvSpPr>
        <p:spPr>
          <a:xfrm>
            <a:off x="6995159" y="1636776"/>
            <a:ext cx="4114800" cy="320040"/>
          </a:xfrm>
          <a:prstGeom prst="rect">
            <a:avLst/>
          </a:prstGeom>
          <a:noFill/>
        </p:spPr>
        <p:txBody>
          <a:bodyPr wrap="square">
            <a:spAutoFit/>
          </a:bodyPr>
          <a:lstStyle/>
          <a:p>
            <a:pPr>
              <a:defRPr sz="1500" b="1">
                <a:solidFill>
                  <a:srgbClr val="F8F7FA"/>
                </a:solidFill>
                <a:latin typeface="Aptos"/>
              </a:defRPr>
            </a:pPr>
            <a:r>
              <a:t>Kemampuan semakin cepat</a:t>
            </a:r>
          </a:p>
        </p:txBody>
      </p:sp>
      <p:sp>
        <p:nvSpPr>
          <p:cNvPr id="11" name="TextBox 10"/>
          <p:cNvSpPr txBox="1"/>
          <p:nvPr/>
        </p:nvSpPr>
        <p:spPr>
          <a:xfrm>
            <a:off x="6995159" y="2011680"/>
            <a:ext cx="4069080" cy="475488"/>
          </a:xfrm>
          <a:prstGeom prst="rect">
            <a:avLst/>
          </a:prstGeom>
          <a:noFill/>
        </p:spPr>
        <p:txBody>
          <a:bodyPr wrap="square">
            <a:spAutoFit/>
          </a:bodyPr>
          <a:lstStyle/>
          <a:p>
            <a:pPr>
              <a:defRPr sz="1050" b="0">
                <a:solidFill>
                  <a:srgbClr val="CDCCD7"/>
                </a:solidFill>
                <a:latin typeface="Aptos"/>
              </a:defRPr>
            </a:pPr>
            <a:r>
              <a:t>Peralihan dari tabung vakum ke transistor, IC, dan mikroprosesor meningkatkan kemampuan pemrosesan.</a:t>
            </a:r>
          </a:p>
        </p:txBody>
      </p:sp>
      <p:sp>
        <p:nvSpPr>
          <p:cNvPr id="12" name="Rounded Rectangle 11"/>
          <p:cNvSpPr/>
          <p:nvPr/>
        </p:nvSpPr>
        <p:spPr>
          <a:xfrm>
            <a:off x="685800" y="2926080"/>
            <a:ext cx="5166360" cy="11430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3090672"/>
            <a:ext cx="457200" cy="274320"/>
          </a:xfrm>
          <a:prstGeom prst="rect">
            <a:avLst/>
          </a:prstGeom>
          <a:noFill/>
        </p:spPr>
        <p:txBody>
          <a:bodyPr wrap="square">
            <a:spAutoFit/>
          </a:bodyPr>
          <a:lstStyle/>
          <a:p>
            <a:pPr>
              <a:defRPr sz="1300" b="1">
                <a:solidFill>
                  <a:srgbClr val="E1A8C4"/>
                </a:solidFill>
                <a:latin typeface="Aptos"/>
              </a:defRPr>
            </a:pPr>
            <a:r>
              <a:t>03</a:t>
            </a:r>
          </a:p>
        </p:txBody>
      </p:sp>
      <p:sp>
        <p:nvSpPr>
          <p:cNvPr id="14" name="TextBox 13"/>
          <p:cNvSpPr txBox="1"/>
          <p:nvPr/>
        </p:nvSpPr>
        <p:spPr>
          <a:xfrm>
            <a:off x="1463040" y="3054096"/>
            <a:ext cx="4114800" cy="320040"/>
          </a:xfrm>
          <a:prstGeom prst="rect">
            <a:avLst/>
          </a:prstGeom>
          <a:noFill/>
        </p:spPr>
        <p:txBody>
          <a:bodyPr wrap="square">
            <a:spAutoFit/>
          </a:bodyPr>
          <a:lstStyle/>
          <a:p>
            <a:pPr>
              <a:defRPr sz="1500" b="1">
                <a:solidFill>
                  <a:srgbClr val="F8F7FA"/>
                </a:solidFill>
                <a:latin typeface="Aptos"/>
              </a:defRPr>
            </a:pPr>
            <a:r>
              <a:t>Efisiensi semakin baik</a:t>
            </a:r>
          </a:p>
        </p:txBody>
      </p:sp>
      <p:sp>
        <p:nvSpPr>
          <p:cNvPr id="15" name="TextBox 14"/>
          <p:cNvSpPr txBox="1"/>
          <p:nvPr/>
        </p:nvSpPr>
        <p:spPr>
          <a:xfrm>
            <a:off x="1463040" y="3429000"/>
            <a:ext cx="4069080" cy="475488"/>
          </a:xfrm>
          <a:prstGeom prst="rect">
            <a:avLst/>
          </a:prstGeom>
          <a:noFill/>
        </p:spPr>
        <p:txBody>
          <a:bodyPr wrap="square">
            <a:spAutoFit/>
          </a:bodyPr>
          <a:lstStyle/>
          <a:p>
            <a:pPr>
              <a:defRPr sz="1050" b="0">
                <a:solidFill>
                  <a:srgbClr val="CDCCD7"/>
                </a:solidFill>
                <a:latin typeface="Aptos"/>
              </a:defRPr>
            </a:pPr>
            <a:r>
              <a:t>Komputer generasi berikutnya menjadi lebih hemat energi, lebih andal, dan lebih efisien.</a:t>
            </a:r>
          </a:p>
        </p:txBody>
      </p:sp>
      <p:sp>
        <p:nvSpPr>
          <p:cNvPr id="16" name="Rounded Rectangle 15"/>
          <p:cNvSpPr/>
          <p:nvPr/>
        </p:nvSpPr>
        <p:spPr>
          <a:xfrm>
            <a:off x="6217920" y="2926080"/>
            <a:ext cx="5166360" cy="11430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3090672"/>
            <a:ext cx="457200" cy="274320"/>
          </a:xfrm>
          <a:prstGeom prst="rect">
            <a:avLst/>
          </a:prstGeom>
          <a:noFill/>
        </p:spPr>
        <p:txBody>
          <a:bodyPr wrap="square">
            <a:spAutoFit/>
          </a:bodyPr>
          <a:lstStyle/>
          <a:p>
            <a:pPr>
              <a:defRPr sz="1300" b="1">
                <a:solidFill>
                  <a:srgbClr val="E1A8C4"/>
                </a:solidFill>
                <a:latin typeface="Aptos"/>
              </a:defRPr>
            </a:pPr>
            <a:r>
              <a:t>04</a:t>
            </a:r>
          </a:p>
        </p:txBody>
      </p:sp>
      <p:sp>
        <p:nvSpPr>
          <p:cNvPr id="18" name="TextBox 17"/>
          <p:cNvSpPr txBox="1"/>
          <p:nvPr/>
        </p:nvSpPr>
        <p:spPr>
          <a:xfrm>
            <a:off x="6995159" y="3054096"/>
            <a:ext cx="4114800" cy="320040"/>
          </a:xfrm>
          <a:prstGeom prst="rect">
            <a:avLst/>
          </a:prstGeom>
          <a:noFill/>
        </p:spPr>
        <p:txBody>
          <a:bodyPr wrap="square">
            <a:spAutoFit/>
          </a:bodyPr>
          <a:lstStyle/>
          <a:p>
            <a:pPr>
              <a:defRPr sz="1500" b="1">
                <a:solidFill>
                  <a:srgbClr val="F8F7FA"/>
                </a:solidFill>
                <a:latin typeface="Aptos"/>
              </a:defRPr>
            </a:pPr>
            <a:r>
              <a:t>Penggunaan semakin luas</a:t>
            </a:r>
          </a:p>
        </p:txBody>
      </p:sp>
      <p:sp>
        <p:nvSpPr>
          <p:cNvPr id="19" name="TextBox 18"/>
          <p:cNvSpPr txBox="1"/>
          <p:nvPr/>
        </p:nvSpPr>
        <p:spPr>
          <a:xfrm>
            <a:off x="6995159" y="3429000"/>
            <a:ext cx="4069080" cy="475488"/>
          </a:xfrm>
          <a:prstGeom prst="rect">
            <a:avLst/>
          </a:prstGeom>
          <a:noFill/>
        </p:spPr>
        <p:txBody>
          <a:bodyPr wrap="square">
            <a:spAutoFit/>
          </a:bodyPr>
          <a:lstStyle/>
          <a:p>
            <a:pPr>
              <a:defRPr sz="1050" b="0">
                <a:solidFill>
                  <a:srgbClr val="CDCCD7"/>
                </a:solidFill>
                <a:latin typeface="Aptos"/>
              </a:defRPr>
            </a:pPr>
            <a:r>
              <a:t>Komputer berkembang dari kebutuhan khusus menjadi teknologi untuk bisnis, pendidikan, pemerintahan, dan kebutuhan sehari-hari.</a:t>
            </a:r>
          </a:p>
        </p:txBody>
      </p:sp>
      <p:sp>
        <p:nvSpPr>
          <p:cNvPr id="20" name="Rounded Rectangle 19"/>
          <p:cNvSpPr/>
          <p:nvPr/>
        </p:nvSpPr>
        <p:spPr>
          <a:xfrm>
            <a:off x="685800" y="4343400"/>
            <a:ext cx="5166360" cy="11430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507992"/>
            <a:ext cx="457200" cy="274320"/>
          </a:xfrm>
          <a:prstGeom prst="rect">
            <a:avLst/>
          </a:prstGeom>
          <a:noFill/>
        </p:spPr>
        <p:txBody>
          <a:bodyPr wrap="square">
            <a:spAutoFit/>
          </a:bodyPr>
          <a:lstStyle/>
          <a:p>
            <a:pPr>
              <a:defRPr sz="1300" b="1">
                <a:solidFill>
                  <a:srgbClr val="E1A8C4"/>
                </a:solidFill>
                <a:latin typeface="Aptos"/>
              </a:defRPr>
            </a:pPr>
            <a:r>
              <a:t>05</a:t>
            </a:r>
          </a:p>
        </p:txBody>
      </p:sp>
      <p:sp>
        <p:nvSpPr>
          <p:cNvPr id="22" name="TextBox 21"/>
          <p:cNvSpPr txBox="1"/>
          <p:nvPr/>
        </p:nvSpPr>
        <p:spPr>
          <a:xfrm>
            <a:off x="1463040" y="4471416"/>
            <a:ext cx="4114800" cy="320040"/>
          </a:xfrm>
          <a:prstGeom prst="rect">
            <a:avLst/>
          </a:prstGeom>
          <a:noFill/>
        </p:spPr>
        <p:txBody>
          <a:bodyPr wrap="square">
            <a:spAutoFit/>
          </a:bodyPr>
          <a:lstStyle/>
          <a:p>
            <a:pPr>
              <a:defRPr sz="1500" b="1">
                <a:solidFill>
                  <a:srgbClr val="F8F7FA"/>
                </a:solidFill>
                <a:latin typeface="Aptos"/>
              </a:defRPr>
            </a:pPr>
            <a:r>
              <a:t>Teknologi semakin terintegrasi</a:t>
            </a:r>
          </a:p>
        </p:txBody>
      </p:sp>
      <p:sp>
        <p:nvSpPr>
          <p:cNvPr id="23" name="TextBox 22"/>
          <p:cNvSpPr txBox="1"/>
          <p:nvPr/>
        </p:nvSpPr>
        <p:spPr>
          <a:xfrm>
            <a:off x="1463040" y="4846320"/>
            <a:ext cx="4069080" cy="475488"/>
          </a:xfrm>
          <a:prstGeom prst="rect">
            <a:avLst/>
          </a:prstGeom>
          <a:noFill/>
        </p:spPr>
        <p:txBody>
          <a:bodyPr wrap="square">
            <a:spAutoFit/>
          </a:bodyPr>
          <a:lstStyle/>
          <a:p>
            <a:pPr>
              <a:defRPr sz="1050" b="0">
                <a:solidFill>
                  <a:srgbClr val="CDCCD7"/>
                </a:solidFill>
                <a:latin typeface="Aptos"/>
              </a:defRPr>
            </a:pPr>
            <a:r>
              <a:t>Komponen yang semakin padat dalam chip memungkinkan perangkat menjadi lebih kecil sekaligus memiliki kemampuan yang lebih besar.</a:t>
            </a:r>
          </a:p>
        </p:txBody>
      </p:sp>
      <p:sp>
        <p:nvSpPr>
          <p:cNvPr id="24" name="Rounded Rectangle 23"/>
          <p:cNvSpPr/>
          <p:nvPr/>
        </p:nvSpPr>
        <p:spPr>
          <a:xfrm>
            <a:off x="6217920" y="4343400"/>
            <a:ext cx="5166360" cy="1143000"/>
          </a:xfrm>
          <a:prstGeom prst="roundRect">
            <a:avLst/>
          </a:prstGeom>
          <a:solidFill>
            <a:srgbClr val="2B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4507992"/>
            <a:ext cx="457200" cy="274320"/>
          </a:xfrm>
          <a:prstGeom prst="rect">
            <a:avLst/>
          </a:prstGeom>
          <a:noFill/>
        </p:spPr>
        <p:txBody>
          <a:bodyPr wrap="square">
            <a:spAutoFit/>
          </a:bodyPr>
          <a:lstStyle/>
          <a:p>
            <a:pPr>
              <a:defRPr sz="1300" b="1">
                <a:solidFill>
                  <a:srgbClr val="E1A8C4"/>
                </a:solidFill>
                <a:latin typeface="Aptos"/>
              </a:defRPr>
            </a:pPr>
            <a:r>
              <a:t>06</a:t>
            </a:r>
          </a:p>
        </p:txBody>
      </p:sp>
      <p:sp>
        <p:nvSpPr>
          <p:cNvPr id="26" name="TextBox 25"/>
          <p:cNvSpPr txBox="1"/>
          <p:nvPr/>
        </p:nvSpPr>
        <p:spPr>
          <a:xfrm>
            <a:off x="6995159" y="4471416"/>
            <a:ext cx="4114800" cy="320040"/>
          </a:xfrm>
          <a:prstGeom prst="rect">
            <a:avLst/>
          </a:prstGeom>
          <a:noFill/>
        </p:spPr>
        <p:txBody>
          <a:bodyPr wrap="square">
            <a:spAutoFit/>
          </a:bodyPr>
          <a:lstStyle/>
          <a:p>
            <a:pPr>
              <a:defRPr sz="1500" b="1">
                <a:solidFill>
                  <a:srgbClr val="F8F7FA"/>
                </a:solidFill>
                <a:latin typeface="Aptos"/>
              </a:defRPr>
            </a:pPr>
            <a:r>
              <a:t>Komputasi semakin cerdas</a:t>
            </a:r>
          </a:p>
        </p:txBody>
      </p:sp>
      <p:sp>
        <p:nvSpPr>
          <p:cNvPr id="27" name="TextBox 26"/>
          <p:cNvSpPr txBox="1"/>
          <p:nvPr/>
        </p:nvSpPr>
        <p:spPr>
          <a:xfrm>
            <a:off x="6995159" y="4846320"/>
            <a:ext cx="4069080" cy="475488"/>
          </a:xfrm>
          <a:prstGeom prst="rect">
            <a:avLst/>
          </a:prstGeom>
          <a:noFill/>
        </p:spPr>
        <p:txBody>
          <a:bodyPr wrap="square">
            <a:spAutoFit/>
          </a:bodyPr>
          <a:lstStyle/>
          <a:p>
            <a:pPr>
              <a:defRPr sz="1050" b="0">
                <a:solidFill>
                  <a:srgbClr val="CDCCD7"/>
                </a:solidFill>
                <a:latin typeface="Aptos"/>
              </a:defRPr>
            </a:pPr>
            <a:r>
              <a:t>Dalam materi generasi kelima, perkembangan komputer dikaitkan dengan AI, pemrosesan paralel, dan teknologi baru seperti superkonduktor.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1072</Words>
  <Application>Microsoft Office PowerPoint</Application>
  <PresentationFormat>Widescreen</PresentationFormat>
  <Paragraphs>110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Javas</dc:creator>
  <cp:keywords/>
  <dc:description>generated using python-pptx</dc:description>
  <cp:lastModifiedBy>chalynt lituhayu</cp:lastModifiedBy>
  <cp:revision>4</cp:revision>
  <dcterms:created xsi:type="dcterms:W3CDTF">2013-01-27T09:14:16Z</dcterms:created>
  <dcterms:modified xsi:type="dcterms:W3CDTF">2026-10-13T01:17:51Z</dcterms:modified>
  <cp:category/>
</cp:coreProperties>
</file>